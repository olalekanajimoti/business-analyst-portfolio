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53D"/>
        </a:solidFill>
      </p:bgPr>
    </p:bg>
    <p:spTree>
      <p:nvGrpSpPr>
        <p:cNvPr id="1" name=""/>
        <p:cNvGrpSpPr/>
        <p:nvPr/>
      </p:nvGrpSpPr>
      <p:grpSpPr>
        <a:xfrm>
          <a:off x="0" y="0"/>
          <a:ext cx="0" cy="0"/>
          <a:chOff x="0" y="0"/>
          <a:chExt cx="0" cy="0"/>
        </a:xfrm>
      </p:grpSpPr>
      <p:sp>
        <p:nvSpPr>
          <p:cNvPr id="2" name="Text 0"/>
          <p:cNvSpPr txBox="1"/>
          <p:nvPr/>
        </p:nvSpPr>
        <p:spPr>
          <a:xfrm>
            <a:off x="731520" y="1188720"/>
            <a:ext cx="7315200" cy="365760"/>
          </a:xfrm>
          <a:prstGeom prst="rect">
            <a:avLst/>
          </a:prstGeom>
          <a:noFill/>
          <a:ln/>
        </p:spPr>
        <p:txBody>
          <a:bodyPr wrap="square" lIns="0" tIns="0" rIns="0" bIns="0" rtlCol="0" anchor="ctr"/>
          <a:lstStyle/>
          <a:p>
            <a:pPr indent="0" marL="0">
              <a:buNone/>
            </a:pPr>
            <a:r>
              <a:rPr lang="en-US" sz="1300" b="1" spc="200" kern="0" dirty="0">
                <a:solidFill>
                  <a:srgbClr val="5EEAD4"/>
                </a:solidFill>
                <a:latin typeface="Arial" pitchFamily="34" charset="0"/>
                <a:ea typeface="Arial" pitchFamily="34" charset="-122"/>
                <a:cs typeface="Arial" pitchFamily="34" charset="-120"/>
              </a:rPr>
              <a:t>DELIVERED WORK</a:t>
            </a:r>
            <a:endParaRPr lang="en-US" sz="1300" dirty="0"/>
          </a:p>
        </p:txBody>
      </p:sp>
      <p:sp>
        <p:nvSpPr>
          <p:cNvPr id="3" name="Text 1"/>
          <p:cNvSpPr txBox="1"/>
          <p:nvPr/>
        </p:nvSpPr>
        <p:spPr>
          <a:xfrm>
            <a:off x="731520" y="1645920"/>
            <a:ext cx="10515600" cy="146304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MyTicketSeller Event Ticketing Platform</a:t>
            </a:r>
            <a:endParaRPr lang="en-US" sz="4000" dirty="0"/>
          </a:p>
        </p:txBody>
      </p:sp>
      <p:sp>
        <p:nvSpPr>
          <p:cNvPr id="4" name="Text 2"/>
          <p:cNvSpPr txBox="1"/>
          <p:nvPr/>
        </p:nvSpPr>
        <p:spPr>
          <a:xfrm>
            <a:off x="731520" y="3291840"/>
            <a:ext cx="10058400" cy="822960"/>
          </a:xfrm>
          <a:prstGeom prst="rect">
            <a:avLst/>
          </a:prstGeom>
          <a:noFill/>
          <a:ln/>
        </p:spPr>
        <p:txBody>
          <a:bodyPr wrap="square" lIns="0" tIns="0" rIns="0" bIns="0" rtlCol="0" anchor="t"/>
          <a:lstStyle/>
          <a:p>
            <a:pPr indent="0" marL="0">
              <a:buNone/>
            </a:pPr>
            <a:r>
              <a:rPr lang="en-US" sz="1800" dirty="0">
                <a:solidFill>
                  <a:srgbClr val="CBD5E1"/>
                </a:solidFill>
                <a:latin typeface="Arial" pitchFamily="34" charset="0"/>
                <a:ea typeface="Arial" pitchFamily="34" charset="-122"/>
                <a:cs typeface="Arial" pitchFamily="34" charset="-120"/>
              </a:rPr>
              <a:t>From a first API in November 2024 to a live multi-currency ticketing platform with refunds, team access and dispute evidence</a:t>
            </a:r>
            <a:endParaRPr lang="en-US" sz="1800" dirty="0"/>
          </a:p>
        </p:txBody>
      </p:sp>
      <p:sp>
        <p:nvSpPr>
          <p:cNvPr id="5" name="Shape 3"/>
          <p:cNvSpPr/>
          <p:nvPr/>
        </p:nvSpPr>
        <p:spPr>
          <a:xfrm>
            <a:off x="731520" y="4663440"/>
            <a:ext cx="2743200" cy="0"/>
          </a:xfrm>
          <a:prstGeom prst="line">
            <a:avLst/>
          </a:prstGeom>
          <a:noFill/>
          <a:ln w="25400">
            <a:solidFill>
              <a:srgbClr val="5EEAD4"/>
            </a:solidFill>
            <a:prstDash val="solid"/>
          </a:ln>
        </p:spPr>
      </p:sp>
      <p:sp>
        <p:nvSpPr>
          <p:cNvPr id="6" name="Text 4"/>
          <p:cNvSpPr txBox="1"/>
          <p:nvPr/>
        </p:nvSpPr>
        <p:spPr>
          <a:xfrm>
            <a:off x="731520" y="4846320"/>
            <a:ext cx="10058400" cy="1097280"/>
          </a:xfrm>
          <a:prstGeom prst="rect">
            <a:avLst/>
          </a:prstGeom>
          <a:noFill/>
          <a:ln/>
        </p:spPr>
        <p:txBody>
          <a:bodyPr wrap="square" lIns="0" tIns="0" rIns="0" bIns="0" rtlCol="0" anchor="t"/>
          <a:lstStyle/>
          <a:p>
            <a:pPr indent="0" marL="0">
              <a:spcAft>
                <a:spcPts val="400"/>
              </a:spcAft>
              <a:buNone/>
            </a:pPr>
            <a:r>
              <a:rPr lang="en-US" sz="1400" b="1" dirty="0">
                <a:solidFill>
                  <a:srgbClr val="E2E8F0"/>
                </a:solidFill>
                <a:latin typeface="Arial" pitchFamily="34" charset="0"/>
                <a:ea typeface="Arial" pitchFamily="34" charset="-122"/>
                <a:cs typeface="Arial" pitchFamily="34" charset="-120"/>
              </a:rPr>
              <a:t>Status: </a:t>
            </a:r>
            <a:r>
              <a:rPr lang="en-US" sz="1400" b="0" dirty="0">
                <a:solidFill>
                  <a:srgbClr val="E2E8F0"/>
                </a:solidFill>
                <a:latin typeface="Arial" pitchFamily="34" charset="0"/>
                <a:ea typeface="Arial" pitchFamily="34" charset="-122"/>
                <a:cs typeface="Arial" pitchFamily="34" charset="-120"/>
              </a:rPr>
              <a:t>Live</a:t>
            </a:r>
            <a:pPr indent="0" marL="0">
              <a:spcAft>
                <a:spcPts val="400"/>
              </a:spcAft>
              <a:buNone/>
            </a:pPr>
            <a:endParaRPr lang="en-US" sz="1400" dirty="0"/>
          </a:p>
          <a:p>
            <a:pPr indent="0" marL="0">
              <a:spcAft>
                <a:spcPts val="400"/>
              </a:spcAft>
              <a:buNone/>
            </a:pPr>
            <a:r>
              <a:rPr lang="en-US" sz="1400" b="1" dirty="0">
                <a:solidFill>
                  <a:srgbClr val="E2E8F0"/>
                </a:solidFill>
                <a:latin typeface="Arial" pitchFamily="34" charset="0"/>
                <a:ea typeface="Arial" pitchFamily="34" charset="-122"/>
                <a:cs typeface="Arial" pitchFamily="34" charset="-120"/>
              </a:rPr>
              <a:t>Domain: </a:t>
            </a:r>
            <a:r>
              <a:rPr lang="en-US" sz="1400" b="0" dirty="0">
                <a:solidFill>
                  <a:srgbClr val="E2E8F0"/>
                </a:solidFill>
                <a:latin typeface="Arial" pitchFamily="34" charset="0"/>
                <a:ea typeface="Arial" pitchFamily="34" charset="-122"/>
                <a:cs typeface="Arial" pitchFamily="34" charset="-120"/>
              </a:rPr>
              <a:t>Event technology and payments</a:t>
            </a:r>
            <a:pPr indent="0" marL="0">
              <a:spcAft>
                <a:spcPts val="400"/>
              </a:spcAft>
              <a:buNone/>
            </a:pPr>
            <a:endParaRPr lang="en-US" sz="1400" dirty="0"/>
          </a:p>
          <a:p>
            <a:pPr indent="0" marL="0">
              <a:spcAft>
                <a:spcPts val="400"/>
              </a:spcAft>
              <a:buNone/>
            </a:pPr>
            <a:r>
              <a:rPr lang="en-US" sz="1400" b="1" dirty="0">
                <a:solidFill>
                  <a:srgbClr val="E2E8F0"/>
                </a:solidFill>
                <a:latin typeface="Arial" pitchFamily="34" charset="0"/>
                <a:ea typeface="Arial" pitchFamily="34" charset="-122"/>
                <a:cs typeface="Arial" pitchFamily="34" charset="-120"/>
              </a:rPr>
              <a:t>Role: </a:t>
            </a:r>
            <a:r>
              <a:rPr lang="en-US" sz="1400" b="0" dirty="0">
                <a:solidFill>
                  <a:srgbClr val="E2E8F0"/>
                </a:solidFill>
                <a:latin typeface="Arial" pitchFamily="34" charset="0"/>
                <a:ea typeface="Arial" pitchFamily="34" charset="-122"/>
                <a:cs typeface="Arial" pitchFamily="34" charset="-120"/>
              </a:rPr>
              <a:t>Founder, Product Owner and Business Analyst</a:t>
            </a:r>
            <a:pPr indent="0" marL="0">
              <a:spcAft>
                <a:spcPts val="400"/>
              </a:spcAft>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5253D"/>
                </a:solidFill>
                <a:latin typeface="Arial" pitchFamily="34" charset="0"/>
                <a:ea typeface="Arial" pitchFamily="34" charset="-122"/>
                <a:cs typeface="Arial" pitchFamily="34" charset="-120"/>
              </a:rPr>
              <a:t>The problem and what discovery found</a:t>
            </a:r>
            <a:endParaRPr lang="en-US" sz="2600" dirty="0"/>
          </a:p>
        </p:txBody>
      </p:sp>
      <p:sp>
        <p:nvSpPr>
          <p:cNvPr id="3" name="Shape 1"/>
          <p:cNvSpPr/>
          <p:nvPr/>
        </p:nvSpPr>
        <p:spPr>
          <a:xfrm>
            <a:off x="457200" y="1463040"/>
            <a:ext cx="5120640" cy="4480560"/>
          </a:xfrm>
          <a:prstGeom prst="rect">
            <a:avLst/>
          </a:prstGeom>
          <a:solidFill>
            <a:srgbClr val="F4F7FB"/>
          </a:solidFill>
          <a:ln w="12700">
            <a:solidFill>
              <a:srgbClr val="F4F7FB"/>
            </a:solidFill>
            <a:prstDash val="solid"/>
          </a:ln>
        </p:spPr>
        <p:txBody>
          <a:bodyPr/>
          <a:p/>
        </p:txBody>
      </p:sp>
      <p:sp>
        <p:nvSpPr>
          <p:cNvPr id="4" name="Text 2"/>
          <p:cNvSpPr txBox="1"/>
          <p:nvPr/>
        </p:nvSpPr>
        <p:spPr>
          <a:xfrm>
            <a:off x="731520" y="1691640"/>
            <a:ext cx="4572000" cy="365760"/>
          </a:xfrm>
          <a:prstGeom prst="rect">
            <a:avLst/>
          </a:prstGeom>
          <a:noFill/>
          <a:ln/>
        </p:spPr>
        <p:txBody>
          <a:bodyPr wrap="square" lIns="0" tIns="0" rIns="0" bIns="0" rtlCol="0" anchor="ctr"/>
          <a:lstStyle/>
          <a:p>
            <a:pPr indent="0" marL="0">
              <a:buNone/>
            </a:pPr>
            <a:r>
              <a:rPr lang="en-US" sz="1400" b="1" dirty="0">
                <a:solidFill>
                  <a:srgbClr val="0F766E"/>
                </a:solidFill>
                <a:latin typeface="Arial" pitchFamily="34" charset="0"/>
                <a:ea typeface="Arial" pitchFamily="34" charset="-122"/>
                <a:cs typeface="Arial" pitchFamily="34" charset="-120"/>
              </a:rPr>
              <a:t>Business problem</a:t>
            </a:r>
            <a:endParaRPr lang="en-US" sz="1400" dirty="0"/>
          </a:p>
        </p:txBody>
      </p:sp>
      <p:sp>
        <p:nvSpPr>
          <p:cNvPr id="5" name="Text 3"/>
          <p:cNvSpPr txBox="1"/>
          <p:nvPr/>
        </p:nvSpPr>
        <p:spPr>
          <a:xfrm>
            <a:off x="731520" y="2148840"/>
            <a:ext cx="4572000" cy="3474720"/>
          </a:xfrm>
          <a:prstGeom prst="rect">
            <a:avLst/>
          </a:prstGeom>
          <a:noFill/>
          <a:ln/>
        </p:spPr>
        <p:txBody>
          <a:bodyPr wrap="square" lIns="0" tIns="0" rIns="0" bIns="0" rtlCol="0" anchor="t"/>
          <a:lstStyle/>
          <a:p>
            <a:pPr indent="0" marL="0">
              <a:buNone/>
            </a:pPr>
            <a:r>
              <a:rPr lang="en-US" sz="1700" dirty="0">
                <a:solidFill>
                  <a:srgbClr val="1E293B"/>
                </a:solidFill>
                <a:latin typeface="Arial" pitchFamily="34" charset="0"/>
                <a:ea typeface="Arial" pitchFamily="34" charset="-122"/>
                <a:cs typeface="Arial" pitchFamily="34" charset="-120"/>
              </a:rPr>
              <a:t>Organisers selling to Nigerian and diaspora audiences needed to take payment in more than one currency, get paid reliably and control who enters. Early builds were split across separate codebases, payment callbacks were unreliable and revenue was reported in blended currencies.</a:t>
            </a:r>
            <a:endParaRPr lang="en-US" sz="1700" dirty="0"/>
          </a:p>
        </p:txBody>
      </p:sp>
      <p:sp>
        <p:nvSpPr>
          <p:cNvPr id="6" name="Text 4"/>
          <p:cNvSpPr txBox="1"/>
          <p:nvPr/>
        </p:nvSpPr>
        <p:spPr>
          <a:xfrm>
            <a:off x="6126480" y="1691640"/>
            <a:ext cx="5486400" cy="365760"/>
          </a:xfrm>
          <a:prstGeom prst="rect">
            <a:avLst/>
          </a:prstGeom>
          <a:noFill/>
          <a:ln/>
        </p:spPr>
        <p:txBody>
          <a:bodyPr wrap="square" lIns="0" tIns="0" rIns="0" bIns="0" rtlCol="0" anchor="ctr"/>
          <a:lstStyle/>
          <a:p>
            <a:pPr indent="0" marL="0">
              <a:buNone/>
            </a:pPr>
            <a:r>
              <a:rPr lang="en-US" sz="1400" b="1" dirty="0">
                <a:solidFill>
                  <a:srgbClr val="0F766E"/>
                </a:solidFill>
                <a:latin typeface="Arial" pitchFamily="34" charset="0"/>
                <a:ea typeface="Arial" pitchFamily="34" charset="-122"/>
                <a:cs typeface="Arial" pitchFamily="34" charset="-120"/>
              </a:rPr>
              <a:t>What the analysis found</a:t>
            </a:r>
            <a:endParaRPr lang="en-US" sz="1400" dirty="0"/>
          </a:p>
        </p:txBody>
      </p:sp>
      <p:sp>
        <p:nvSpPr>
          <p:cNvPr id="7" name="Shape 5"/>
          <p:cNvSpPr/>
          <p:nvPr/>
        </p:nvSpPr>
        <p:spPr>
          <a:xfrm>
            <a:off x="6126480" y="2240280"/>
            <a:ext cx="502920" cy="502920"/>
          </a:xfrm>
          <a:prstGeom prst="ellipse">
            <a:avLst/>
          </a:prstGeom>
          <a:solidFill>
            <a:srgbClr val="EA580C"/>
          </a:solidFill>
          <a:ln w="12700">
            <a:solidFill>
              <a:srgbClr val="EA580C"/>
            </a:solidFill>
            <a:prstDash val="solid"/>
          </a:ln>
        </p:spPr>
        <p:txBody>
          <a:bodyPr/>
          <a:p/>
        </p:txBody>
      </p:sp>
      <p:sp>
        <p:nvSpPr>
          <p:cNvPr id="8" name="Text 6"/>
          <p:cNvSpPr txBox="1"/>
          <p:nvPr/>
        </p:nvSpPr>
        <p:spPr>
          <a:xfrm>
            <a:off x="6126480" y="22402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6858000" y="2148840"/>
            <a:ext cx="4846320" cy="7315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Buyers saw “payment failed” after a successful charge, retried and were charged twice</a:t>
            </a:r>
            <a:endParaRPr lang="en-US" sz="1500" dirty="0"/>
          </a:p>
        </p:txBody>
      </p:sp>
      <p:sp>
        <p:nvSpPr>
          <p:cNvPr id="10" name="Shape 8"/>
          <p:cNvSpPr/>
          <p:nvPr/>
        </p:nvSpPr>
        <p:spPr>
          <a:xfrm>
            <a:off x="6126480" y="3429000"/>
            <a:ext cx="502920" cy="502920"/>
          </a:xfrm>
          <a:prstGeom prst="ellipse">
            <a:avLst/>
          </a:prstGeom>
          <a:solidFill>
            <a:srgbClr val="EA580C"/>
          </a:solidFill>
          <a:ln w="12700">
            <a:solidFill>
              <a:srgbClr val="EA580C"/>
            </a:solidFill>
            <a:prstDash val="solid"/>
          </a:ln>
        </p:spPr>
        <p:txBody>
          <a:bodyPr/>
          <a:p/>
        </p:txBody>
      </p:sp>
      <p:sp>
        <p:nvSpPr>
          <p:cNvPr id="11" name="Text 9"/>
          <p:cNvSpPr txBox="1"/>
          <p:nvPr/>
        </p:nvSpPr>
        <p:spPr>
          <a:xfrm>
            <a:off x="6126480" y="34290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6858000" y="3337560"/>
            <a:ext cx="4846320" cy="7315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Foreign-currency sales were mis-converted and blended, so organisers could not trust their earnings</a:t>
            </a:r>
            <a:endParaRPr lang="en-US" sz="1500" dirty="0"/>
          </a:p>
        </p:txBody>
      </p:sp>
      <p:sp>
        <p:nvSpPr>
          <p:cNvPr id="13" name="Shape 11"/>
          <p:cNvSpPr/>
          <p:nvPr/>
        </p:nvSpPr>
        <p:spPr>
          <a:xfrm>
            <a:off x="6126480" y="4617720"/>
            <a:ext cx="502920" cy="502920"/>
          </a:xfrm>
          <a:prstGeom prst="ellipse">
            <a:avLst/>
          </a:prstGeom>
          <a:solidFill>
            <a:srgbClr val="EA580C"/>
          </a:solidFill>
          <a:ln w="12700">
            <a:solidFill>
              <a:srgbClr val="EA580C"/>
            </a:solidFill>
            <a:prstDash val="solid"/>
          </a:ln>
        </p:spPr>
        <p:txBody>
          <a:bodyPr/>
          <a:p/>
        </p:txBody>
      </p:sp>
      <p:sp>
        <p:nvSpPr>
          <p:cNvPr id="14" name="Text 12"/>
          <p:cNvSpPr txBox="1"/>
          <p:nvPr/>
        </p:nvSpPr>
        <p:spPr>
          <a:xfrm>
            <a:off x="6126480" y="46177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6858000" y="4526280"/>
            <a:ext cx="4846320" cy="731520"/>
          </a:xfrm>
          <a:prstGeom prst="rect">
            <a:avLst/>
          </a:prstGeom>
          <a:noFill/>
          <a:ln/>
        </p:spPr>
        <p:txBody>
          <a:bodyPr wrap="square" lIns="0" tIns="0" rIns="0" bIns="0" rtlCol="0" anchor="ctr"/>
          <a:lstStyle/>
          <a:p>
            <a:pPr indent="0" marL="0">
              <a:buNone/>
            </a:pPr>
            <a:r>
              <a:rPr lang="en-US" sz="1500" dirty="0">
                <a:solidFill>
                  <a:srgbClr val="1E293B"/>
                </a:solidFill>
                <a:latin typeface="Arial" pitchFamily="34" charset="0"/>
                <a:ea typeface="Arial" pitchFamily="34" charset="-122"/>
                <a:cs typeface="Arial" pitchFamily="34" charset="-120"/>
              </a:rPr>
              <a:t>Anyone with the organiser login ran the door; scanning was not limited to the organiser's own events</a:t>
            </a:r>
            <a:endParaRPr lang="en-US" sz="1500" dirty="0"/>
          </a:p>
        </p:txBody>
      </p:sp>
      <p:sp>
        <p:nvSpPr>
          <p:cNvPr id="16" name="Text 14"/>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MyTicketSeller  |  Olalekan Ajimoti, Business Analyst portfolio</a:t>
            </a:r>
            <a:endParaRPr lang="en-US" sz="900" dirty="0"/>
          </a:p>
        </p:txBody>
      </p:sp>
      <p:sp>
        <p:nvSpPr>
          <p:cNvPr id="17" name="Text 15"/>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5253D"/>
                </a:solidFill>
                <a:latin typeface="Arial" pitchFamily="34" charset="0"/>
                <a:ea typeface="Arial" pitchFamily="34" charset="-122"/>
                <a:cs typeface="Arial" pitchFamily="34" charset="-120"/>
              </a:rPr>
              <a:t>As-Is process</a:t>
            </a:r>
            <a:endParaRPr lang="en-US" sz="26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Full-resolution SVG is in the Diagrams folder</a:t>
            </a:r>
            <a:endParaRPr lang="en-US" sz="1300" dirty="0"/>
          </a:p>
        </p:txBody>
      </p:sp>
      <p:sp>
        <p:nvSpPr>
          <p:cNvPr id="5" name="Text 2"/>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MyTicketSeller  |  Olalekan Ajimoti, Business Analyst portfolio</a:t>
            </a:r>
            <a:endParaRPr lang="en-US" sz="900" dirty="0"/>
          </a:p>
        </p:txBody>
      </p:sp>
      <p:sp>
        <p:nvSpPr>
          <p:cNvPr id="6" name="Text 3"/>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03</a:t>
            </a:r>
            <a:endParaRPr lang="en-US" sz="900" dirty="0"/>
          </a:p>
        </p:txBody>
      </p:sp>
      <p:pic>
        <p:nvPicPr>
          <p:cNvPr id="7" name="Picture 6" descr="As_Is_Process.png"/>
          <p:cNvPicPr>
            <a:picLocks noChangeAspect="1"/>
          </p:cNvPicPr>
          <p:nvPr/>
        </p:nvPicPr>
        <p:blipFill>
          <a:blip r:embed="rId4"/>
          <a:stretch>
            <a:fillRect/>
          </a:stretch>
        </p:blipFill>
        <p:spPr>
          <a:xfrm>
            <a:off x="457200" y="1280160"/>
            <a:ext cx="11247120" cy="35786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5253D"/>
                </a:solidFill>
                <a:latin typeface="Arial" pitchFamily="34" charset="0"/>
                <a:ea typeface="Arial" pitchFamily="34" charset="-122"/>
                <a:cs typeface="Arial" pitchFamily="34" charset="-120"/>
              </a:rPr>
              <a:t>To-Be process</a:t>
            </a:r>
            <a:endParaRPr lang="en-US" sz="26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Full-resolution SVG is in the Diagrams folder</a:t>
            </a:r>
            <a:endParaRPr lang="en-US" sz="1300" dirty="0"/>
          </a:p>
        </p:txBody>
      </p:sp>
      <p:sp>
        <p:nvSpPr>
          <p:cNvPr id="5" name="Text 2"/>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MyTicketSeller  |  Olalekan Ajimoti, Business Analyst portfolio</a:t>
            </a:r>
            <a:endParaRPr lang="en-US" sz="900" dirty="0"/>
          </a:p>
        </p:txBody>
      </p:sp>
      <p:sp>
        <p:nvSpPr>
          <p:cNvPr id="6" name="Text 3"/>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04</a:t>
            </a:r>
            <a:endParaRPr lang="en-US" sz="900" dirty="0"/>
          </a:p>
        </p:txBody>
      </p:sp>
      <p:pic>
        <p:nvPicPr>
          <p:cNvPr id="7" name="Picture 6" descr="To_Be_Process.png"/>
          <p:cNvPicPr>
            <a:picLocks noChangeAspect="1"/>
          </p:cNvPicPr>
          <p:nvPr/>
        </p:nvPicPr>
        <p:blipFill>
          <a:blip r:embed="rId4"/>
          <a:stretch>
            <a:fillRect/>
          </a:stretch>
        </p:blipFill>
        <p:spPr>
          <a:xfrm>
            <a:off x="457200" y="1280160"/>
            <a:ext cx="11247120" cy="35786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5253D"/>
                </a:solidFill>
                <a:latin typeface="Arial" pitchFamily="34" charset="0"/>
                <a:ea typeface="Arial" pitchFamily="34" charset="-122"/>
                <a:cs typeface="Arial" pitchFamily="34" charset="-120"/>
              </a:rPr>
              <a:t>What changed</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377440"/>
                <a:gridCol w="3931920"/>
                <a:gridCol w="4937760"/>
              </a:tblGrid>
              <a:tr h="868680">
                <a:tc>
                  <a:txBody>
                    <a:bodyPr/>
                    <a:lstStyle/>
                    <a:p>
                      <a:pPr indent="0" marL="0">
                        <a:buNone/>
                      </a:pPr>
                      <a:r>
                        <a:rPr lang="en-US" sz="1500" b="1" dirty="0">
                          <a:solidFill>
                            <a:srgbClr val="FFFFFF"/>
                          </a:solidFill>
                          <a:latin typeface="Arial" pitchFamily="34" charset="0"/>
                          <a:ea typeface="Arial" pitchFamily="34" charset="-122"/>
                          <a:cs typeface="Arial" pitchFamily="34" charset="-120"/>
                        </a:rPr>
                        <a:t>Area</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15253D"/>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Before</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15253D"/>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After</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15253D"/>
                    </a:solidFill>
                  </a:tcPr>
                </a:tc>
              </a:tr>
              <a:tr h="868680">
                <a:tc>
                  <a:txBody>
                    <a:bodyPr/>
                    <a:lstStyle/>
                    <a:p>
                      <a:pPr indent="0" marL="0">
                        <a:buNone/>
                      </a:pPr>
                      <a:r>
                        <a:rPr lang="en-US" sz="1500" b="1" dirty="0">
                          <a:solidFill>
                            <a:srgbClr val="0F766E"/>
                          </a:solidFill>
                          <a:latin typeface="Arial" pitchFamily="34" charset="0"/>
                          <a:ea typeface="Arial" pitchFamily="34" charset="-122"/>
                          <a:cs typeface="Arial" pitchFamily="34" charset="-120"/>
                        </a:rPr>
                        <a:t>Payments</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4F7FB"/>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Tickets depended on one webhook; failures prompted repeat payments</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4F7FB"/>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Return-page verification plus reconciliation; tickets arrive near instantly</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4F7FB"/>
                    </a:solidFill>
                  </a:tcPr>
                </a:tc>
              </a:tr>
              <a:tr h="868680">
                <a:tc>
                  <a:txBody>
                    <a:bodyPr/>
                    <a:lstStyle/>
                    <a:p>
                      <a:pPr indent="0" marL="0">
                        <a:buNone/>
                      </a:pPr>
                      <a:r>
                        <a:rPr lang="en-US" sz="1500" b="1" dirty="0">
                          <a:solidFill>
                            <a:srgbClr val="0F766E"/>
                          </a:solidFill>
                          <a:latin typeface="Arial" pitchFamily="34" charset="0"/>
                          <a:ea typeface="Arial" pitchFamily="34" charset="-122"/>
                          <a:cs typeface="Arial" pitchFamily="34" charset="-120"/>
                        </a:rPr>
                        <a:t>Revenue</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Currencies blended and mis-converted</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Per-currency ledger, wallets and payouts with visible fees</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0F766E"/>
                          </a:solidFill>
                          <a:latin typeface="Arial" pitchFamily="34" charset="0"/>
                          <a:ea typeface="Arial" pitchFamily="34" charset="-122"/>
                          <a:cs typeface="Arial" pitchFamily="34" charset="-120"/>
                        </a:rPr>
                        <a:t>Event access</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4F7FB"/>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One shared login ran the door</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4F7FB"/>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Owner-only scanning with door staff, viewer and manager roles</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4F7FB"/>
                    </a:solidFill>
                  </a:tcPr>
                </a:tc>
              </a:tr>
              <a:tr h="868680">
                <a:tc>
                  <a:txBody>
                    <a:bodyPr/>
                    <a:lstStyle/>
                    <a:p>
                      <a:pPr indent="0" marL="0">
                        <a:buNone/>
                      </a:pPr>
                      <a:r>
                        <a:rPr lang="en-US" sz="1500" b="1" dirty="0">
                          <a:solidFill>
                            <a:srgbClr val="0F766E"/>
                          </a:solidFill>
                          <a:latin typeface="Arial" pitchFamily="34" charset="0"/>
                          <a:ea typeface="Arial" pitchFamily="34" charset="-122"/>
                          <a:cs typeface="Arial" pitchFamily="34" charset="-120"/>
                        </a:rPr>
                        <a:t>Protection</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Refunds, disputes and secrets handled ad hoc</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Arial" pitchFamily="34" charset="0"/>
                          <a:ea typeface="Arial" pitchFamily="34" charset="-122"/>
                          <a:cs typeface="Arial" pitchFamily="34" charset="-120"/>
                        </a:rPr>
                        <a:t>Verified refund webhooks, evidence PDF, security audit fixes</a:t>
                      </a:r>
                      <a:endParaRPr lang="en-US" sz="1500" dirty="0">
                        <a:latin typeface="Arial" charset="0"/>
                        <a:ea typeface="Arial" charset="0"/>
                        <a:cs typeface="Arial" charset="0"/>
                      </a:endParaRPr>
                    </a:p>
                  </a:txBody>
                  <a:tcPr marL="109728" marR="109728" marT="109728" marB="109728" anchor="ctr">
                    <a:lnL w="9525" cap="flat" cmpd="sng" algn="ctr">
                      <a:solidFill>
                        <a:srgbClr val="D5DDE8"/>
                      </a:solidFill>
                      <a:prstDash val="solid"/>
                      <a:round/>
                      <a:headEnd type="none" w="med" len="med"/>
                      <a:tailEnd type="none" w="med" len="med"/>
                    </a:lnL>
                    <a:lnR w="9525" cap="flat" cmpd="sng" algn="ctr">
                      <a:solidFill>
                        <a:srgbClr val="D5DDE8"/>
                      </a:solidFill>
                      <a:prstDash val="solid"/>
                      <a:round/>
                      <a:headEnd type="none" w="med" len="med"/>
                      <a:tailEnd type="none" w="med" len="med"/>
                    </a:lnR>
                    <a:lnT w="9525" cap="flat" cmpd="sng" algn="ctr">
                      <a:solidFill>
                        <a:srgbClr val="D5DDE8"/>
                      </a:solidFill>
                      <a:prstDash val="solid"/>
                      <a:round/>
                      <a:headEnd type="none" w="med" len="med"/>
                      <a:tailEnd type="none" w="med" len="med"/>
                    </a:lnT>
                    <a:lnB w="9525" cap="flat" cmpd="sng" algn="ctr">
                      <a:solidFill>
                        <a:srgbClr val="D5DDE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MyTicketSeller  |  Olalekan Ajimoti, Business Analyst portfolio</a:t>
            </a:r>
            <a:endParaRPr lang="en-US" sz="900" dirty="0"/>
          </a:p>
        </p:txBody>
      </p:sp>
      <p:sp>
        <p:nvSpPr>
          <p:cNvPr id="5" name="Text 2"/>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5253D"/>
                </a:solidFill>
                <a:latin typeface="Arial" pitchFamily="34" charset="0"/>
                <a:ea typeface="Arial" pitchFamily="34" charset="-122"/>
                <a:cs typeface="Arial" pitchFamily="34" charset="-120"/>
              </a:rPr>
              <a:t>Delivered outcomes</a:t>
            </a:r>
            <a:endParaRPr lang="en-US" sz="2600" dirty="0"/>
          </a:p>
        </p:txBody>
      </p:sp>
      <p:sp>
        <p:nvSpPr>
          <p:cNvPr id="3" name="Text 1"/>
          <p:cNvSpPr txBox="1"/>
          <p:nvPr/>
        </p:nvSpPr>
        <p:spPr>
          <a:xfrm>
            <a:off x="457200" y="868680"/>
            <a:ext cx="11247120" cy="3200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Figures come from the project's code history; commercial data is not published</a:t>
            </a:r>
            <a:endParaRPr lang="en-US" sz="1300" dirty="0"/>
          </a:p>
        </p:txBody>
      </p:sp>
      <p:sp>
        <p:nvSpPr>
          <p:cNvPr id="4" name="Shape 2"/>
          <p:cNvSpPr/>
          <p:nvPr/>
        </p:nvSpPr>
        <p:spPr>
          <a:xfrm>
            <a:off x="457200" y="1737360"/>
            <a:ext cx="5486400" cy="3108960"/>
          </a:xfrm>
          <a:prstGeom prst="rect">
            <a:avLst/>
          </a:prstGeom>
          <a:solidFill>
            <a:srgbClr val="F4F7FB"/>
          </a:solidFill>
          <a:ln w="12700">
            <a:solidFill>
              <a:srgbClr val="F4F7FB"/>
            </a:solidFill>
            <a:prstDash val="solid"/>
          </a:ln>
        </p:spPr>
        <p:txBody>
          <a:bodyPr/>
          <a:p/>
        </p:txBody>
      </p:sp>
      <p:sp>
        <p:nvSpPr>
          <p:cNvPr id="5" name="Text 3"/>
          <p:cNvSpPr txBox="1"/>
          <p:nvPr/>
        </p:nvSpPr>
        <p:spPr>
          <a:xfrm>
            <a:off x="822960" y="2011680"/>
            <a:ext cx="4754880" cy="1463040"/>
          </a:xfrm>
          <a:prstGeom prst="rect">
            <a:avLst/>
          </a:prstGeom>
          <a:noFill/>
          <a:ln/>
        </p:spPr>
        <p:txBody>
          <a:bodyPr wrap="square" lIns="0" tIns="0" rIns="0" bIns="0" rtlCol="0" anchor="ctr"/>
          <a:lstStyle/>
          <a:p>
            <a:pPr indent="0" marL="0">
              <a:buNone/>
            </a:pPr>
            <a:r>
              <a:rPr lang="en-US" sz="7200" b="1" dirty="0">
                <a:solidFill>
                  <a:srgbClr val="0F766E"/>
                </a:solidFill>
                <a:latin typeface="Arial" pitchFamily="34" charset="0"/>
                <a:ea typeface="Arial" pitchFamily="34" charset="-122"/>
                <a:cs typeface="Arial" pitchFamily="34" charset="-120"/>
              </a:rPr>
              <a:t>4 → 1</a:t>
            </a:r>
            <a:endParaRPr lang="en-US" sz="7200" dirty="0"/>
          </a:p>
        </p:txBody>
      </p:sp>
      <p:sp>
        <p:nvSpPr>
          <p:cNvPr id="6" name="Text 4"/>
          <p:cNvSpPr txBox="1"/>
          <p:nvPr/>
        </p:nvSpPr>
        <p:spPr>
          <a:xfrm>
            <a:off x="822960" y="3566160"/>
            <a:ext cx="4754880" cy="914400"/>
          </a:xfrm>
          <a:prstGeom prst="rect">
            <a:avLst/>
          </a:prstGeom>
          <a:noFill/>
          <a:ln/>
        </p:spPr>
        <p:txBody>
          <a:bodyPr wrap="square" lIns="0" tIns="0" rIns="0" bIns="0" rtlCol="0" anchor="t"/>
          <a:lstStyle/>
          <a:p>
            <a:pPr indent="0" marL="0">
              <a:buNone/>
            </a:pPr>
            <a:r>
              <a:rPr lang="en-US" sz="1800" dirty="0">
                <a:solidFill>
                  <a:srgbClr val="1E293B"/>
                </a:solidFill>
                <a:latin typeface="Arial" pitchFamily="34" charset="0"/>
                <a:ea typeface="Arial" pitchFamily="34" charset="-122"/>
                <a:cs typeface="Arial" pitchFamily="34" charset="-120"/>
              </a:rPr>
              <a:t>separate codebases consolidated into one live platform</a:t>
            </a:r>
            <a:endParaRPr lang="en-US" sz="1800" dirty="0"/>
          </a:p>
        </p:txBody>
      </p:sp>
      <p:sp>
        <p:nvSpPr>
          <p:cNvPr id="7" name="Shape 5"/>
          <p:cNvSpPr/>
          <p:nvPr/>
        </p:nvSpPr>
        <p:spPr>
          <a:xfrm>
            <a:off x="6172200" y="1737360"/>
            <a:ext cx="5486400" cy="3108960"/>
          </a:xfrm>
          <a:prstGeom prst="rect">
            <a:avLst/>
          </a:prstGeom>
          <a:solidFill>
            <a:srgbClr val="F4F7FB"/>
          </a:solidFill>
          <a:ln w="12700">
            <a:solidFill>
              <a:srgbClr val="F4F7FB"/>
            </a:solidFill>
            <a:prstDash val="solid"/>
          </a:ln>
        </p:spPr>
        <p:txBody>
          <a:bodyPr/>
          <a:p/>
        </p:txBody>
      </p:sp>
      <p:sp>
        <p:nvSpPr>
          <p:cNvPr id="8" name="Text 6"/>
          <p:cNvSpPr txBox="1"/>
          <p:nvPr/>
        </p:nvSpPr>
        <p:spPr>
          <a:xfrm>
            <a:off x="6537960" y="2011680"/>
            <a:ext cx="4754880" cy="1463040"/>
          </a:xfrm>
          <a:prstGeom prst="rect">
            <a:avLst/>
          </a:prstGeom>
          <a:noFill/>
          <a:ln/>
        </p:spPr>
        <p:txBody>
          <a:bodyPr wrap="square" lIns="0" tIns="0" rIns="0" bIns="0" rtlCol="0" anchor="ctr"/>
          <a:lstStyle/>
          <a:p>
            <a:pPr indent="0" marL="0">
              <a:buNone/>
            </a:pPr>
            <a:r>
              <a:rPr lang="en-US" sz="7200" b="1" dirty="0">
                <a:solidFill>
                  <a:srgbClr val="0F766E"/>
                </a:solidFill>
                <a:latin typeface="Arial" pitchFamily="34" charset="0"/>
                <a:ea typeface="Arial" pitchFamily="34" charset="-122"/>
                <a:cs typeface="Arial" pitchFamily="34" charset="-120"/>
              </a:rPr>
              <a:t>90+</a:t>
            </a:r>
            <a:endParaRPr lang="en-US" sz="7200" dirty="0"/>
          </a:p>
        </p:txBody>
      </p:sp>
      <p:sp>
        <p:nvSpPr>
          <p:cNvPr id="9" name="Text 7"/>
          <p:cNvSpPr txBox="1"/>
          <p:nvPr/>
        </p:nvSpPr>
        <p:spPr>
          <a:xfrm>
            <a:off x="6537960" y="3566160"/>
            <a:ext cx="4754880" cy="914400"/>
          </a:xfrm>
          <a:prstGeom prst="rect">
            <a:avLst/>
          </a:prstGeom>
          <a:noFill/>
          <a:ln/>
        </p:spPr>
        <p:txBody>
          <a:bodyPr wrap="square" lIns="0" tIns="0" rIns="0" bIns="0" rtlCol="0" anchor="t"/>
          <a:lstStyle/>
          <a:p>
            <a:pPr indent="0" marL="0">
              <a:buNone/>
            </a:pPr>
            <a:r>
              <a:rPr lang="en-US" sz="1800" dirty="0">
                <a:solidFill>
                  <a:srgbClr val="1E293B"/>
                </a:solidFill>
                <a:latin typeface="Arial" pitchFamily="34" charset="0"/>
                <a:ea typeface="Arial" pitchFamily="34" charset="-122"/>
                <a:cs typeface="Arial" pitchFamily="34" charset="-120"/>
              </a:rPr>
              <a:t>owner-led changes shipped in 10 weeks (Jul to Sep 2026)</a:t>
            </a:r>
            <a:endParaRPr lang="en-US" sz="1800" dirty="0"/>
          </a:p>
        </p:txBody>
      </p:sp>
      <p:sp>
        <p:nvSpPr>
          <p:cNvPr id="10" name="Text 8"/>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MyTicketSeller  |  Olalekan Ajimoti, Business Analyst portfolio</a:t>
            </a:r>
            <a:endParaRPr lang="en-US" sz="900" dirty="0"/>
          </a:p>
        </p:txBody>
      </p:sp>
      <p:sp>
        <p:nvSpPr>
          <p:cNvPr id="11" name="Text 9"/>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48640"/>
          </a:xfrm>
          <a:prstGeom prst="rect">
            <a:avLst/>
          </a:prstGeom>
          <a:noFill/>
          <a:ln/>
        </p:spPr>
        <p:txBody>
          <a:bodyPr wrap="square" lIns="0" tIns="0" rIns="0" bIns="0" rtlCol="0" anchor="ctr"/>
          <a:lstStyle/>
          <a:p>
            <a:pPr indent="0" marL="0">
              <a:buNone/>
            </a:pPr>
            <a:r>
              <a:rPr lang="en-US" sz="2600" b="1" dirty="0">
                <a:solidFill>
                  <a:srgbClr val="15253D"/>
                </a:solidFill>
                <a:latin typeface="Arial" pitchFamily="34" charset="0"/>
                <a:ea typeface="Arial" pitchFamily="34" charset="-122"/>
                <a:cs typeface="Arial" pitchFamily="34" charset="-120"/>
              </a:rPr>
              <a:t>Recommendations and key risks</a:t>
            </a:r>
            <a:endParaRPr lang="en-US" sz="2600" dirty="0"/>
          </a:p>
        </p:txBody>
      </p:sp>
      <p:sp>
        <p:nvSpPr>
          <p:cNvPr id="3" name="Text 1"/>
          <p:cNvSpPr txBox="1"/>
          <p:nvPr/>
        </p:nvSpPr>
        <p:spPr>
          <a:xfrm>
            <a:off x="457200" y="1280160"/>
            <a:ext cx="5486400" cy="365760"/>
          </a:xfrm>
          <a:prstGeom prst="rect">
            <a:avLst/>
          </a:prstGeom>
          <a:noFill/>
          <a:ln/>
        </p:spPr>
        <p:txBody>
          <a:bodyPr wrap="square" lIns="0" tIns="0" rIns="0" bIns="0" rtlCol="0" anchor="ctr"/>
          <a:lstStyle/>
          <a:p>
            <a:pPr indent="0" marL="0">
              <a:buNone/>
            </a:pPr>
            <a:r>
              <a:rPr lang="en-US" sz="1500" b="1" dirty="0">
                <a:solidFill>
                  <a:srgbClr val="0F766E"/>
                </a:solidFill>
                <a:latin typeface="Arial" pitchFamily="34" charset="0"/>
                <a:ea typeface="Arial" pitchFamily="34" charset="-122"/>
                <a:cs typeface="Arial" pitchFamily="34" charset="-120"/>
              </a:rPr>
              <a:t>Recommended next actions</a:t>
            </a:r>
            <a:endParaRPr lang="en-US" sz="1500" dirty="0"/>
          </a:p>
        </p:txBody>
      </p:sp>
      <p:sp>
        <p:nvSpPr>
          <p:cNvPr id="4" name="Text 2"/>
          <p:cNvSpPr txBox="1"/>
          <p:nvPr/>
        </p:nvSpPr>
        <p:spPr>
          <a:xfrm>
            <a:off x="457200" y="1783080"/>
            <a:ext cx="5394960" cy="4206240"/>
          </a:xfrm>
          <a:prstGeom prst="rect">
            <a:avLst/>
          </a:prstGeom>
          <a:noFill/>
          <a:ln/>
        </p:spPr>
        <p:txBody>
          <a:bodyPr wrap="square" rtlCol="0" anchor="t"/>
          <a:lstStyle/>
          <a:p>
            <a:pPr marL="342900" indent="-342900">
              <a:spcAft>
                <a:spcPts val="1200"/>
              </a:spcAft>
              <a:buSzPct val="100000"/>
              <a:buChar char="•"/>
            </a:pPr>
            <a:r>
              <a:rPr lang="en-US" sz="1600" dirty="0">
                <a:solidFill>
                  <a:srgbClr val="1E293B"/>
                </a:solidFill>
                <a:latin typeface="Arial" pitchFamily="34" charset="0"/>
                <a:ea typeface="Arial" pitchFamily="34" charset="-122"/>
                <a:cs typeface="Arial" pitchFamily="34" charset="-120"/>
              </a:rPr>
              <a:t>Track the share of orders that need reconciliation, per gateway</a:t>
            </a:r>
            <a:endParaRPr lang="en-US" sz="1600" dirty="0"/>
          </a:p>
          <a:p>
            <a:pPr marL="342900" indent="-342900">
              <a:spcAft>
                <a:spcPts val="1200"/>
              </a:spcAft>
              <a:buSzPct val="100000"/>
              <a:buChar char="•"/>
            </a:pPr>
            <a:r>
              <a:rPr lang="en-US" sz="1600" dirty="0">
                <a:solidFill>
                  <a:srgbClr val="1E293B"/>
                </a:solidFill>
                <a:latin typeface="Arial" pitchFamily="34" charset="0"/>
                <a:ea typeface="Arial" pitchFamily="34" charset="-122"/>
                <a:cs typeface="Arial" pitchFamily="34" charset="-120"/>
              </a:rPr>
              <a:t>Report refund and dispute rates by event and currency</a:t>
            </a:r>
            <a:endParaRPr lang="en-US" sz="1600" dirty="0"/>
          </a:p>
          <a:p>
            <a:pPr marL="342900" indent="-342900">
              <a:spcAft>
                <a:spcPts val="1200"/>
              </a:spcAft>
              <a:buSzPct val="100000"/>
              <a:buChar char="•"/>
            </a:pPr>
            <a:r>
              <a:rPr lang="en-US" sz="1600" dirty="0">
                <a:solidFill>
                  <a:srgbClr val="1E293B"/>
                </a:solidFill>
                <a:latin typeface="Arial" pitchFamily="34" charset="0"/>
                <a:ea typeface="Arial" pitchFamily="34" charset="-122"/>
                <a:cs typeface="Arial" pitchFamily="34" charset="-120"/>
              </a:rPr>
              <a:t>Compare consented conversion by channel before scaling paid ads</a:t>
            </a:r>
            <a:endParaRPr lang="en-US" sz="1600" dirty="0"/>
          </a:p>
          <a:p>
            <a:pPr marL="342900" indent="-342900">
              <a:spcAft>
                <a:spcPts val="1200"/>
              </a:spcAft>
              <a:buSzPct val="100000"/>
              <a:buChar char="•"/>
            </a:pPr>
            <a:r>
              <a:rPr lang="en-US" sz="1600" dirty="0">
                <a:solidFill>
                  <a:srgbClr val="1E293B"/>
                </a:solidFill>
                <a:latin typeface="Arial" pitchFamily="34" charset="0"/>
                <a:ea typeface="Arial" pitchFamily="34" charset="-122"/>
                <a:cs typeface="Arial" pitchFamily="34" charset="-120"/>
              </a:rPr>
              <a:t>Keep a written rule for every fee, currency and payout decision</a:t>
            </a:r>
            <a:endParaRPr lang="en-US" sz="1600" dirty="0"/>
          </a:p>
        </p:txBody>
      </p:sp>
      <p:sp>
        <p:nvSpPr>
          <p:cNvPr id="5" name="Text 3"/>
          <p:cNvSpPr txBox="1"/>
          <p:nvPr/>
        </p:nvSpPr>
        <p:spPr>
          <a:xfrm>
            <a:off x="6309360" y="1280160"/>
            <a:ext cx="5486400" cy="365760"/>
          </a:xfrm>
          <a:prstGeom prst="rect">
            <a:avLst/>
          </a:prstGeom>
          <a:noFill/>
          <a:ln/>
        </p:spPr>
        <p:txBody>
          <a:bodyPr wrap="square" lIns="0" tIns="0" rIns="0" bIns="0" rtlCol="0" anchor="ctr"/>
          <a:lstStyle/>
          <a:p>
            <a:pPr indent="0" marL="0">
              <a:buNone/>
            </a:pPr>
            <a:r>
              <a:rPr lang="en-US" sz="1500" b="1" dirty="0">
                <a:solidFill>
                  <a:srgbClr val="EA580C"/>
                </a:solidFill>
                <a:latin typeface="Arial" pitchFamily="34" charset="0"/>
                <a:ea typeface="Arial" pitchFamily="34" charset="-122"/>
                <a:cs typeface="Arial" pitchFamily="34" charset="-120"/>
              </a:rPr>
              <a:t>Risks with a named owner</a:t>
            </a:r>
            <a:endParaRPr lang="en-US" sz="1500" dirty="0"/>
          </a:p>
        </p:txBody>
      </p:sp>
      <p:sp>
        <p:nvSpPr>
          <p:cNvPr id="6" name="Shape 4"/>
          <p:cNvSpPr/>
          <p:nvPr/>
        </p:nvSpPr>
        <p:spPr>
          <a:xfrm>
            <a:off x="6309360" y="1783080"/>
            <a:ext cx="5394960" cy="960120"/>
          </a:xfrm>
          <a:prstGeom prst="rect">
            <a:avLst/>
          </a:prstGeom>
          <a:solidFill>
            <a:srgbClr val="F4F7FB"/>
          </a:solidFill>
          <a:ln w="12700">
            <a:solidFill>
              <a:srgbClr val="F4F7FB"/>
            </a:solidFill>
            <a:prstDash val="solid"/>
          </a:ln>
        </p:spPr>
        <p:txBody>
          <a:bodyPr/>
          <a:p/>
        </p:txBody>
      </p:sp>
      <p:sp>
        <p:nvSpPr>
          <p:cNvPr id="7" name="Text 5"/>
          <p:cNvSpPr txBox="1"/>
          <p:nvPr/>
        </p:nvSpPr>
        <p:spPr>
          <a:xfrm>
            <a:off x="6446520" y="1920240"/>
            <a:ext cx="731520" cy="320040"/>
          </a:xfrm>
          <a:prstGeom prst="rect">
            <a:avLst/>
          </a:prstGeom>
          <a:solidFill>
            <a:srgbClr val="B45309"/>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R-01</a:t>
            </a:r>
            <a:endParaRPr lang="en-US" sz="1100" dirty="0"/>
          </a:p>
        </p:txBody>
      </p:sp>
      <p:sp>
        <p:nvSpPr>
          <p:cNvPr id="8" name="Text 6"/>
          <p:cNvSpPr txBox="1"/>
          <p:nvPr/>
        </p:nvSpPr>
        <p:spPr>
          <a:xfrm>
            <a:off x="7315200" y="1856232"/>
            <a:ext cx="4297680" cy="4114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Payment callbacks arrive late or not at all</a:t>
            </a:r>
            <a:endParaRPr lang="en-US" sz="1300" dirty="0"/>
          </a:p>
        </p:txBody>
      </p:sp>
      <p:sp>
        <p:nvSpPr>
          <p:cNvPr id="9" name="Text 7"/>
          <p:cNvSpPr txBox="1"/>
          <p:nvPr/>
        </p:nvSpPr>
        <p:spPr>
          <a:xfrm>
            <a:off x="7315200" y="2267712"/>
            <a:ext cx="4297680" cy="36576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Verify on return page and reconcile pending orders</a:t>
            </a:r>
            <a:endParaRPr lang="en-US" sz="1200" dirty="0"/>
          </a:p>
        </p:txBody>
      </p:sp>
      <p:sp>
        <p:nvSpPr>
          <p:cNvPr id="10" name="Shape 8"/>
          <p:cNvSpPr/>
          <p:nvPr/>
        </p:nvSpPr>
        <p:spPr>
          <a:xfrm>
            <a:off x="6309360" y="2862072"/>
            <a:ext cx="5394960" cy="960120"/>
          </a:xfrm>
          <a:prstGeom prst="rect">
            <a:avLst/>
          </a:prstGeom>
          <a:solidFill>
            <a:srgbClr val="F4F7FB"/>
          </a:solidFill>
          <a:ln w="12700">
            <a:solidFill>
              <a:srgbClr val="F4F7FB"/>
            </a:solidFill>
            <a:prstDash val="solid"/>
          </a:ln>
        </p:spPr>
        <p:txBody>
          <a:bodyPr/>
          <a:p/>
        </p:txBody>
      </p:sp>
      <p:sp>
        <p:nvSpPr>
          <p:cNvPr id="11" name="Text 9"/>
          <p:cNvSpPr txBox="1"/>
          <p:nvPr/>
        </p:nvSpPr>
        <p:spPr>
          <a:xfrm>
            <a:off x="6446520" y="2999232"/>
            <a:ext cx="731520" cy="320040"/>
          </a:xfrm>
          <a:prstGeom prst="rect">
            <a:avLst/>
          </a:prstGeom>
          <a:solidFill>
            <a:srgbClr val="B91C1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R-02</a:t>
            </a:r>
            <a:endParaRPr lang="en-US" sz="1100" dirty="0"/>
          </a:p>
        </p:txBody>
      </p:sp>
      <p:sp>
        <p:nvSpPr>
          <p:cNvPr id="12" name="Text 10"/>
          <p:cNvSpPr txBox="1"/>
          <p:nvPr/>
        </p:nvSpPr>
        <p:spPr>
          <a:xfrm>
            <a:off x="7315200" y="2935224"/>
            <a:ext cx="4297680" cy="4114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Currency errors misstate organiser earnings</a:t>
            </a:r>
            <a:endParaRPr lang="en-US" sz="1300" dirty="0"/>
          </a:p>
        </p:txBody>
      </p:sp>
      <p:sp>
        <p:nvSpPr>
          <p:cNvPr id="13" name="Text 11"/>
          <p:cNvSpPr txBox="1"/>
          <p:nvPr/>
        </p:nvSpPr>
        <p:spPr>
          <a:xfrm>
            <a:off x="7315200" y="3346704"/>
            <a:ext cx="4297680" cy="36576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Per-currency ledger and display rules</a:t>
            </a:r>
            <a:endParaRPr lang="en-US" sz="1200" dirty="0"/>
          </a:p>
        </p:txBody>
      </p:sp>
      <p:sp>
        <p:nvSpPr>
          <p:cNvPr id="14" name="Shape 12"/>
          <p:cNvSpPr/>
          <p:nvPr/>
        </p:nvSpPr>
        <p:spPr>
          <a:xfrm>
            <a:off x="6309360" y="3941064"/>
            <a:ext cx="5394960" cy="960120"/>
          </a:xfrm>
          <a:prstGeom prst="rect">
            <a:avLst/>
          </a:prstGeom>
          <a:solidFill>
            <a:srgbClr val="F4F7FB"/>
          </a:solidFill>
          <a:ln w="12700">
            <a:solidFill>
              <a:srgbClr val="F4F7FB"/>
            </a:solidFill>
            <a:prstDash val="solid"/>
          </a:ln>
        </p:spPr>
        <p:txBody>
          <a:bodyPr/>
          <a:p/>
        </p:txBody>
      </p:sp>
      <p:sp>
        <p:nvSpPr>
          <p:cNvPr id="15" name="Text 13"/>
          <p:cNvSpPr txBox="1"/>
          <p:nvPr/>
        </p:nvSpPr>
        <p:spPr>
          <a:xfrm>
            <a:off x="6446520" y="4078224"/>
            <a:ext cx="731520" cy="320040"/>
          </a:xfrm>
          <a:prstGeom prst="rect">
            <a:avLst/>
          </a:prstGeom>
          <a:solidFill>
            <a:srgbClr val="B91C1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R-03</a:t>
            </a:r>
            <a:endParaRPr lang="en-US" sz="1100" dirty="0"/>
          </a:p>
        </p:txBody>
      </p:sp>
      <p:sp>
        <p:nvSpPr>
          <p:cNvPr id="16" name="Text 14"/>
          <p:cNvSpPr txBox="1"/>
          <p:nvPr/>
        </p:nvSpPr>
        <p:spPr>
          <a:xfrm>
            <a:off x="7315200" y="4014216"/>
            <a:ext cx="4297680" cy="4114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Security gaps left by rapid early builds</a:t>
            </a:r>
            <a:endParaRPr lang="en-US" sz="1300" dirty="0"/>
          </a:p>
        </p:txBody>
      </p:sp>
      <p:sp>
        <p:nvSpPr>
          <p:cNvPr id="17" name="Text 15"/>
          <p:cNvSpPr txBox="1"/>
          <p:nvPr/>
        </p:nvSpPr>
        <p:spPr>
          <a:xfrm>
            <a:off x="7315200" y="4425696"/>
            <a:ext cx="4297680" cy="36576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Audit: remove debug endpoints, move secrets, rate limit auth</a:t>
            </a:r>
            <a:endParaRPr lang="en-US" sz="1200" dirty="0"/>
          </a:p>
        </p:txBody>
      </p:sp>
      <p:sp>
        <p:nvSpPr>
          <p:cNvPr id="18" name="Shape 16"/>
          <p:cNvSpPr/>
          <p:nvPr/>
        </p:nvSpPr>
        <p:spPr>
          <a:xfrm>
            <a:off x="6309360" y="5020056"/>
            <a:ext cx="5394960" cy="960120"/>
          </a:xfrm>
          <a:prstGeom prst="rect">
            <a:avLst/>
          </a:prstGeom>
          <a:solidFill>
            <a:srgbClr val="F4F7FB"/>
          </a:solidFill>
          <a:ln w="12700">
            <a:solidFill>
              <a:srgbClr val="F4F7FB"/>
            </a:solidFill>
            <a:prstDash val="solid"/>
          </a:ln>
        </p:spPr>
        <p:txBody>
          <a:bodyPr/>
          <a:p/>
        </p:txBody>
      </p:sp>
      <p:sp>
        <p:nvSpPr>
          <p:cNvPr id="19" name="Text 17"/>
          <p:cNvSpPr txBox="1"/>
          <p:nvPr/>
        </p:nvSpPr>
        <p:spPr>
          <a:xfrm>
            <a:off x="6446520" y="5157216"/>
            <a:ext cx="731520" cy="320040"/>
          </a:xfrm>
          <a:prstGeom prst="rect">
            <a:avLst/>
          </a:prstGeom>
          <a:solidFill>
            <a:srgbClr val="B91C1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R-04</a:t>
            </a:r>
            <a:endParaRPr lang="en-US" sz="1100" dirty="0"/>
          </a:p>
        </p:txBody>
      </p:sp>
      <p:sp>
        <p:nvSpPr>
          <p:cNvPr id="20" name="Text 18"/>
          <p:cNvSpPr txBox="1"/>
          <p:nvPr/>
        </p:nvSpPr>
        <p:spPr>
          <a:xfrm>
            <a:off x="7315200" y="5093208"/>
            <a:ext cx="4297680" cy="4114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Chargebacks lost without evidence</a:t>
            </a:r>
            <a:endParaRPr lang="en-US" sz="1300" dirty="0"/>
          </a:p>
        </p:txBody>
      </p:sp>
      <p:sp>
        <p:nvSpPr>
          <p:cNvPr id="21" name="Text 19"/>
          <p:cNvSpPr txBox="1"/>
          <p:nvPr/>
        </p:nvSpPr>
        <p:spPr>
          <a:xfrm>
            <a:off x="7315200" y="5504688"/>
            <a:ext cx="4297680" cy="36576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Log terms consent and export evidence per dispute</a:t>
            </a:r>
            <a:endParaRPr lang="en-US" sz="1200" dirty="0"/>
          </a:p>
        </p:txBody>
      </p:sp>
      <p:sp>
        <p:nvSpPr>
          <p:cNvPr id="22" name="Text 20"/>
          <p:cNvSpPr txBox="1"/>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MyTicketSeller  |  Olalekan Ajimoti, Business Analyst portfolio</a:t>
            </a:r>
            <a:endParaRPr lang="en-US" sz="900" dirty="0"/>
          </a:p>
        </p:txBody>
      </p:sp>
      <p:sp>
        <p:nvSpPr>
          <p:cNvPr id="23" name="Text 21"/>
          <p:cNvSpPr txBox="1"/>
          <p:nvPr/>
        </p:nvSpPr>
        <p:spPr>
          <a:xfrm>
            <a:off x="11247120" y="6446520"/>
            <a:ext cx="548640" cy="27432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BOZ Jewelry Retail and E-commerce Transformation</dc:title>
  <dc:subject>PptxGenJS Presentation</dc:subject>
  <dc:creator>Olalekan Ajimoti</dc:creator>
  <cp:lastModifiedBy>Olalekan Ajimoti</cp:lastModifiedBy>
  <cp:revision>1</cp:revision>
  <dcterms:created xsi:type="dcterms:W3CDTF">2026-09-25T02:00:11Z</dcterms:created>
  <dcterms:modified xsi:type="dcterms:W3CDTF">2026-09-25T02:00:11Z</dcterms:modified>
</cp:coreProperties>
</file>
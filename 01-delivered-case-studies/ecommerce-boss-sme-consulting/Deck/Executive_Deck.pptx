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1.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731520" y="1188720"/>
            <a:ext cx="6217920" cy="365760"/>
          </a:xfrm>
          <a:prstGeom prst="rect">
            <a:avLst/>
          </a:prstGeom>
          <a:noFill/>
          <a:ln/>
        </p:spPr>
        <p:txBody>
          <a:bodyPr wrap="square" lIns="0" tIns="0" rIns="0" bIns="0" rtlCol="0" anchor="ctr"/>
          <a:lstStyle/>
          <a:p>
            <a:pPr indent="0" marL="0">
              <a:buNone/>
            </a:pPr>
            <a:r>
              <a:rPr lang="en-US" sz="1300" b="1" spc="200" kern="0" dirty="0">
                <a:solidFill>
                  <a:srgbClr val="E5E5E5"/>
                </a:solidFill>
                <a:latin typeface="Arial" pitchFamily="34" charset="0"/>
                <a:ea typeface="Arial" pitchFamily="34" charset="-122"/>
                <a:cs typeface="Arial" pitchFamily="34" charset="-120"/>
              </a:rPr>
              <a:t>DELIVERED WORK</a:t>
            </a:r>
            <a:endParaRPr lang="en-US" sz="1300" dirty="0"/>
          </a:p>
        </p:txBody>
      </p:sp>
      <p:sp>
        <p:nvSpPr>
          <p:cNvPr id="3" name="Text 1"/>
          <p:cNvSpPr txBox="1"/>
          <p:nvPr/>
        </p:nvSpPr>
        <p:spPr>
          <a:xfrm>
            <a:off x="731520" y="1645920"/>
            <a:ext cx="6217920" cy="146304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The Ecommerce Boss SME Consulting</a:t>
            </a:r>
            <a:endParaRPr lang="en-US" sz="4000" dirty="0"/>
          </a:p>
        </p:txBody>
      </p:sp>
      <p:sp>
        <p:nvSpPr>
          <p:cNvPr id="4" name="Text 2"/>
          <p:cNvSpPr txBox="1"/>
          <p:nvPr/>
        </p:nvSpPr>
        <p:spPr>
          <a:xfrm>
            <a:off x="731520" y="3291840"/>
            <a:ext cx="6217920" cy="822960"/>
          </a:xfrm>
          <a:prstGeom prst="rect">
            <a:avLst/>
          </a:prstGeom>
          <a:noFill/>
          <a:ln/>
        </p:spPr>
        <p:txBody>
          <a:bodyPr wrap="square" lIns="0" tIns="0" rIns="0" bIns="0" rtlCol="0" anchor="t"/>
          <a:lstStyle/>
          <a:p>
            <a:pPr indent="0" marL="0">
              <a:buNone/>
            </a:pPr>
            <a:r>
              <a:rPr lang="en-US" sz="1800" dirty="0">
                <a:solidFill>
                  <a:srgbClr val="CBD5E1"/>
                </a:solidFill>
                <a:latin typeface="Arial" pitchFamily="34" charset="0"/>
                <a:ea typeface="Arial" pitchFamily="34" charset="-122"/>
                <a:cs typeface="Arial" pitchFamily="34" charset="-120"/>
              </a:rPr>
              <a:t>Business analysis for small businesses and SMEs: turning “we need a website” into agreed goals, prioritised scope and measurable results</a:t>
            </a:r>
            <a:endParaRPr lang="en-US" sz="1800" dirty="0"/>
          </a:p>
        </p:txBody>
      </p:sp>
      <p:sp>
        <p:nvSpPr>
          <p:cNvPr id="5" name="Shape 3"/>
          <p:cNvSpPr/>
          <p:nvPr/>
        </p:nvSpPr>
        <p:spPr>
          <a:xfrm>
            <a:off x="731520" y="4663440"/>
            <a:ext cx="6217920" cy="0"/>
          </a:xfrm>
          <a:prstGeom prst="line">
            <a:avLst/>
          </a:prstGeom>
          <a:noFill/>
          <a:ln w="25400">
            <a:solidFill>
              <a:srgbClr val="E5E5E5"/>
            </a:solidFill>
            <a:prstDash val="solid"/>
          </a:ln>
        </p:spPr>
        <p:txBody>
          <a:bodyPr/>
          <a:p/>
        </p:txBody>
      </p:sp>
      <p:sp>
        <p:nvSpPr>
          <p:cNvPr id="6" name="Text 4"/>
          <p:cNvSpPr txBox="1"/>
          <p:nvPr/>
        </p:nvSpPr>
        <p:spPr>
          <a:xfrm>
            <a:off x="731520" y="4846320"/>
            <a:ext cx="6217920" cy="1097280"/>
          </a:xfrm>
          <a:prstGeom prst="rect">
            <a:avLst/>
          </a:prstGeom>
          <a:noFill/>
          <a:ln/>
        </p:spPr>
        <p:txBody>
          <a:bodyPr wrap="square" lIns="0" tIns="0" rIns="0" bIns="0" rtlCol="0" anchor="t"/>
          <a:lstStyle/>
          <a:p>
            <a:pPr indent="0" marL="0">
              <a:spcAft>
                <a:spcPts val="400"/>
              </a:spcAft>
              <a:buNone/>
            </a:pPr>
            <a:r>
              <a:rPr lang="en-US" sz="1400" b="1" dirty="0">
                <a:solidFill>
                  <a:srgbClr val="E2E8F0"/>
                </a:solidFill>
                <a:latin typeface="Arial" pitchFamily="34" charset="0"/>
                <a:ea typeface="Arial" pitchFamily="34" charset="-122"/>
                <a:cs typeface="Arial" pitchFamily="34" charset="-120"/>
              </a:rPr>
              <a:t>Status: </a:t>
            </a:r>
            <a:r>
              <a:rPr lang="en-US" sz="1400" b="0" dirty="0">
                <a:solidFill>
                  <a:srgbClr val="E2E8F0"/>
                </a:solidFill>
                <a:latin typeface="Arial" pitchFamily="34" charset="0"/>
                <a:ea typeface="Arial" pitchFamily="34" charset="-122"/>
                <a:cs typeface="Arial" pitchFamily="34" charset="-120"/>
              </a:rPr>
              <a:t>Ongoing (2024 to present)</a:t>
            </a:r>
            <a:pPr indent="0" marL="0">
              <a:spcAft>
                <a:spcPts val="400"/>
              </a:spcAft>
              <a:buNone/>
            </a:pPr>
            <a:endParaRPr lang="en-US" sz="1400" dirty="0"/>
          </a:p>
          <a:p>
            <a:pPr indent="0" marL="0">
              <a:spcAft>
                <a:spcPts val="400"/>
              </a:spcAft>
              <a:buNone/>
            </a:pPr>
            <a:r>
              <a:rPr lang="en-US" sz="1400" b="1" dirty="0">
                <a:solidFill>
                  <a:srgbClr val="E2E8F0"/>
                </a:solidFill>
                <a:latin typeface="Arial" pitchFamily="34" charset="0"/>
                <a:ea typeface="Arial" pitchFamily="34" charset="-122"/>
                <a:cs typeface="Arial" pitchFamily="34" charset="-120"/>
              </a:rPr>
              <a:t>Domain: </a:t>
            </a:r>
            <a:r>
              <a:rPr lang="en-US" sz="1400" b="0" dirty="0">
                <a:solidFill>
                  <a:srgbClr val="E2E8F0"/>
                </a:solidFill>
                <a:latin typeface="Arial" pitchFamily="34" charset="0"/>
                <a:ea typeface="Arial" pitchFamily="34" charset="-122"/>
                <a:cs typeface="Arial" pitchFamily="34" charset="-120"/>
              </a:rPr>
              <a:t>SME digital services: marketing operations and web development</a:t>
            </a:r>
            <a:pPr indent="0" marL="0">
              <a:spcAft>
                <a:spcPts val="400"/>
              </a:spcAft>
              <a:buNone/>
            </a:pPr>
            <a:endParaRPr lang="en-US" sz="1400" dirty="0"/>
          </a:p>
          <a:p>
            <a:pPr indent="0" marL="0">
              <a:spcAft>
                <a:spcPts val="400"/>
              </a:spcAft>
              <a:buNone/>
            </a:pPr>
            <a:r>
              <a:rPr lang="en-US" sz="1400" b="1" dirty="0">
                <a:solidFill>
                  <a:srgbClr val="E2E8F0"/>
                </a:solidFill>
                <a:latin typeface="Arial" pitchFamily="34" charset="0"/>
                <a:ea typeface="Arial" pitchFamily="34" charset="-122"/>
                <a:cs typeface="Arial" pitchFamily="34" charset="-120"/>
              </a:rPr>
              <a:t>Role: </a:t>
            </a:r>
            <a:r>
              <a:rPr lang="en-US" sz="1400" b="0" dirty="0">
                <a:solidFill>
                  <a:srgbClr val="E2E8F0"/>
                </a:solidFill>
                <a:latin typeface="Arial" pitchFamily="34" charset="0"/>
                <a:ea typeface="Arial" pitchFamily="34" charset="-122"/>
                <a:cs typeface="Arial" pitchFamily="34" charset="-120"/>
              </a:rPr>
              <a:t>Business Analyst</a:t>
            </a:r>
            <a:pPr indent="0" marL="0">
              <a:spcAft>
                <a:spcPts val="400"/>
              </a:spcAft>
              <a:buNone/>
            </a:pPr>
            <a:endParaRPr lang="en-US" sz="1400" dirty="0"/>
          </a:p>
        </p:txBody>
      </p:sp>
      <p:sp>
        <p:nvSpPr>
          <p:cNvPr id="7" name="Rectangle 6"/>
          <p:cNvSpPr/>
          <p:nvPr/>
        </p:nvSpPr>
        <p:spPr>
          <a:xfrm>
            <a:off x="7315200" y="0"/>
            <a:ext cx="48768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b_logo.png"/>
          <p:cNvPicPr>
            <a:picLocks noChangeAspect="1"/>
          </p:cNvPicPr>
          <p:nvPr/>
        </p:nvPicPr>
        <p:blipFill>
          <a:blip r:embed="rId3"/>
          <a:stretch>
            <a:fillRect/>
          </a:stretch>
        </p:blipFill>
        <p:spPr>
          <a:xfrm>
            <a:off x="8046720" y="2865769"/>
            <a:ext cx="3413760" cy="1126461"/>
          </a:xfrm>
          <a:prstGeom prst="rect">
            <a:avLst/>
          </a:prstGeom>
        </p:spPr>
      </p:pic>
      <p:sp>
        <p:nvSpPr>
          <p:cNvPr id="9" name="Rectangle 8"/>
          <p:cNvSpPr/>
          <p:nvPr/>
        </p:nvSpPr>
        <p:spPr>
          <a:xfrm>
            <a:off x="7315200" y="0"/>
            <a:ext cx="109728" cy="685800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The problem and what discovery found</a:t>
            </a:r>
            <a:endParaRPr lang="en-US" sz="2600" dirty="0"/>
          </a:p>
        </p:txBody>
      </p:sp>
      <p:sp>
        <p:nvSpPr>
          <p:cNvPr id="3" name="Shape 1"/>
          <p:cNvSpPr/>
          <p:nvPr/>
        </p:nvSpPr>
        <p:spPr>
          <a:xfrm>
            <a:off x="457200" y="1463040"/>
            <a:ext cx="5120640" cy="4480560"/>
          </a:xfrm>
          <a:prstGeom prst="rect">
            <a:avLst/>
          </a:prstGeom>
          <a:solidFill>
            <a:srgbClr val="F5F5F5"/>
          </a:solidFill>
          <a:ln w="12700">
            <a:solidFill>
              <a:srgbClr val="F5F5F5"/>
            </a:solidFill>
            <a:prstDash val="solid"/>
          </a:ln>
        </p:spPr>
        <p:txBody>
          <a:bodyPr/>
          <a:p/>
        </p:txBody>
      </p:sp>
      <p:sp>
        <p:nvSpPr>
          <p:cNvPr id="4" name="Text 2"/>
          <p:cNvSpPr txBox="1"/>
          <p:nvPr/>
        </p:nvSpPr>
        <p:spPr>
          <a:xfrm>
            <a:off x="731520" y="1691640"/>
            <a:ext cx="4572000" cy="36576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Business problem</a:t>
            </a:r>
            <a:endParaRPr lang="en-US" sz="1400" dirty="0"/>
          </a:p>
        </p:txBody>
      </p:sp>
      <p:sp>
        <p:nvSpPr>
          <p:cNvPr id="5" name="Text 3"/>
          <p:cNvSpPr txBox="1"/>
          <p:nvPr/>
        </p:nvSpPr>
        <p:spPr>
          <a:xfrm>
            <a:off x="731520" y="2148840"/>
            <a:ext cx="4572000" cy="3474720"/>
          </a:xfrm>
          <a:prstGeom prst="rect">
            <a:avLst/>
          </a:prstGeom>
          <a:noFill/>
          <a:ln/>
        </p:spPr>
        <p:txBody>
          <a:bodyPr wrap="square" lIns="0" tIns="0" rIns="0" bIns="0" rtlCol="0" anchor="t"/>
          <a:lstStyle/>
          <a:p>
            <a:pPr indent="0" marL="0">
              <a:buNone/>
            </a:pPr>
            <a:r>
              <a:rPr lang="en-US" sz="1700" dirty="0">
                <a:solidFill>
                  <a:srgbClr val="1E293B"/>
                </a:solidFill>
                <a:latin typeface="Arial" pitchFamily="34" charset="0"/>
                <a:ea typeface="Arial" pitchFamily="34" charset="-122"/>
                <a:cs typeface="Arial" pitchFamily="34" charset="-120"/>
              </a:rPr>
              <a:t>Small-business owners arrive with a solution already in mind, such as a new website or more sales from social media. Underneath there is usually no agreed goal, enquiries scattered across direct messages, forms and spreadsheets, and no way to see what marketing or the website actually returns, all on a tight budget.</a:t>
            </a:r>
            <a:endParaRPr lang="en-US" sz="1700" dirty="0"/>
          </a:p>
        </p:txBody>
      </p:sp>
      <p:sp>
        <p:nvSpPr>
          <p:cNvPr id="6" name="Text 4"/>
          <p:cNvSpPr txBox="1"/>
          <p:nvPr/>
        </p:nvSpPr>
        <p:spPr>
          <a:xfrm>
            <a:off x="6126480" y="1691640"/>
            <a:ext cx="5486400" cy="36576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What the analysis found</a:t>
            </a:r>
            <a:endParaRPr lang="en-US" sz="1400" dirty="0"/>
          </a:p>
        </p:txBody>
      </p:sp>
      <p:sp>
        <p:nvSpPr>
          <p:cNvPr id="7" name="Shape 5"/>
          <p:cNvSpPr/>
          <p:nvPr/>
        </p:nvSpPr>
        <p:spPr>
          <a:xfrm>
            <a:off x="6126480" y="2240280"/>
            <a:ext cx="502920" cy="502920"/>
          </a:xfrm>
          <a:prstGeom prst="ellipse">
            <a:avLst/>
          </a:prstGeom>
          <a:solidFill>
            <a:srgbClr val="111111"/>
          </a:solidFill>
          <a:ln w="12700">
            <a:solidFill>
              <a:srgbClr val="111111"/>
            </a:solidFill>
            <a:prstDash val="solid"/>
          </a:ln>
        </p:spPr>
        <p:txBody>
          <a:bodyPr/>
          <a:p/>
        </p:txBody>
      </p:sp>
      <p:sp>
        <p:nvSpPr>
          <p:cNvPr id="8" name="Text 6"/>
          <p:cNvSpPr txBox="1"/>
          <p:nvPr/>
        </p:nvSpPr>
        <p:spPr>
          <a:xfrm>
            <a:off x="6126480" y="22402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txBox="1"/>
          <p:nvPr/>
        </p:nvSpPr>
        <p:spPr>
          <a:xfrm>
            <a:off x="6858000" y="2148840"/>
            <a:ext cx="4846320" cy="73152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Requests arrive as solutions (“build me a website”) before anyone has agreed the goal</a:t>
            </a:r>
            <a:endParaRPr lang="en-US" sz="1500" dirty="0"/>
          </a:p>
        </p:txBody>
      </p:sp>
      <p:sp>
        <p:nvSpPr>
          <p:cNvPr id="10" name="Shape 8"/>
          <p:cNvSpPr/>
          <p:nvPr/>
        </p:nvSpPr>
        <p:spPr>
          <a:xfrm>
            <a:off x="6126480" y="3429000"/>
            <a:ext cx="502920" cy="502920"/>
          </a:xfrm>
          <a:prstGeom prst="ellipse">
            <a:avLst/>
          </a:prstGeom>
          <a:solidFill>
            <a:srgbClr val="111111"/>
          </a:solidFill>
          <a:ln w="12700">
            <a:solidFill>
              <a:srgbClr val="111111"/>
            </a:solidFill>
            <a:prstDash val="solid"/>
          </a:ln>
        </p:spPr>
        <p:txBody>
          <a:bodyPr/>
          <a:p/>
        </p:txBody>
      </p:sp>
      <p:sp>
        <p:nvSpPr>
          <p:cNvPr id="11" name="Text 9"/>
          <p:cNvSpPr txBox="1"/>
          <p:nvPr/>
        </p:nvSpPr>
        <p:spPr>
          <a:xfrm>
            <a:off x="6126480" y="34290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6858000" y="3337560"/>
            <a:ext cx="4846320" cy="73152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Leads and customers live across DMs, forms and spreadsheets, so follow-ups are missed</a:t>
            </a:r>
            <a:endParaRPr lang="en-US" sz="1500" dirty="0"/>
          </a:p>
        </p:txBody>
      </p:sp>
      <p:sp>
        <p:nvSpPr>
          <p:cNvPr id="13" name="Shape 11"/>
          <p:cNvSpPr/>
          <p:nvPr/>
        </p:nvSpPr>
        <p:spPr>
          <a:xfrm>
            <a:off x="6126480" y="4617720"/>
            <a:ext cx="502920" cy="502920"/>
          </a:xfrm>
          <a:prstGeom prst="ellipse">
            <a:avLst/>
          </a:prstGeom>
          <a:solidFill>
            <a:srgbClr val="111111"/>
          </a:solidFill>
          <a:ln w="12700">
            <a:solidFill>
              <a:srgbClr val="111111"/>
            </a:solidFill>
            <a:prstDash val="solid"/>
          </a:ln>
        </p:spPr>
        <p:txBody>
          <a:bodyPr/>
          <a:p/>
        </p:txBody>
      </p:sp>
      <p:sp>
        <p:nvSpPr>
          <p:cNvPr id="14" name="Text 12"/>
          <p:cNvSpPr txBox="1"/>
          <p:nvPr/>
        </p:nvSpPr>
        <p:spPr>
          <a:xfrm>
            <a:off x="6126480" y="46177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txBox="1"/>
          <p:nvPr/>
        </p:nvSpPr>
        <p:spPr>
          <a:xfrm>
            <a:off x="6858000" y="4526280"/>
            <a:ext cx="4846320" cy="73152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Owners cannot see what their marketing or website returns, so budget decisions are guesswork</a:t>
            </a:r>
            <a:endParaRPr lang="en-US" sz="1500" dirty="0"/>
          </a:p>
        </p:txBody>
      </p:sp>
      <p:sp>
        <p:nvSpPr>
          <p:cNvPr id="16" name="Text 14"/>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The Ecommerce Boss  |  Olalekan Ajimoti, Business Analyst portfolio</a:t>
            </a:r>
            <a:endParaRPr lang="en-US" sz="900" dirty="0"/>
          </a:p>
        </p:txBody>
      </p:sp>
      <p:sp>
        <p:nvSpPr>
          <p:cNvPr id="17" name="Text 15"/>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02</a:t>
            </a:r>
            <a:endParaRPr lang="en-US" sz="900" dirty="0"/>
          </a:p>
        </p:txBody>
      </p:sp>
      <p:sp>
        <p:nvSpPr>
          <p:cNvPr id="18" name="Rectangle 17"/>
          <p:cNvSpPr/>
          <p:nvPr/>
        </p:nvSpPr>
        <p:spPr>
          <a:xfrm>
            <a:off x="0" y="0"/>
            <a:ext cx="12192000" cy="82296"/>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2296"/>
            <a:ext cx="1463040" cy="457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b_logo.png"/>
          <p:cNvPicPr>
            <a:picLocks noChangeAspect="1"/>
          </p:cNvPicPr>
          <p:nvPr/>
        </p:nvPicPr>
        <p:blipFill>
          <a:blip r:embed="rId3"/>
          <a:stretch>
            <a:fillRect/>
          </a:stretch>
        </p:blipFill>
        <p:spPr>
          <a:xfrm>
            <a:off x="10363200" y="6362864"/>
            <a:ext cx="1005840" cy="33190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As-Is process</a:t>
            </a:r>
            <a:endParaRPr lang="en-US" sz="2600" dirty="0"/>
          </a:p>
        </p:txBody>
      </p:sp>
      <p:sp>
        <p:nvSpPr>
          <p:cNvPr id="3" name="Text 1"/>
          <p:cNvSpPr txBox="1"/>
          <p:nvPr/>
        </p:nvSpPr>
        <p:spPr>
          <a:xfrm>
            <a:off x="457200" y="868680"/>
            <a:ext cx="11247120" cy="3200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Full-resolution SVG is in the Diagrams folder</a:t>
            </a:r>
            <a:endParaRPr lang="en-US" sz="1300" dirty="0"/>
          </a:p>
        </p:txBody>
      </p:sp>
      <p:sp>
        <p:nvSpPr>
          <p:cNvPr id="5" name="Text 2"/>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The Ecommerce Boss  |  Olalekan Ajimoti, Business Analyst portfolio</a:t>
            </a:r>
            <a:endParaRPr lang="en-US" sz="900" dirty="0"/>
          </a:p>
        </p:txBody>
      </p:sp>
      <p:sp>
        <p:nvSpPr>
          <p:cNvPr id="6" name="Text 3"/>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03</a:t>
            </a:r>
            <a:endParaRPr lang="en-US" sz="900" dirty="0"/>
          </a:p>
        </p:txBody>
      </p:sp>
      <p:pic>
        <p:nvPicPr>
          <p:cNvPr id="7" name="Picture 6" descr="As_Is_Process.png"/>
          <p:cNvPicPr>
            <a:picLocks noChangeAspect="1"/>
          </p:cNvPicPr>
          <p:nvPr/>
        </p:nvPicPr>
        <p:blipFill>
          <a:blip r:embed="rId4"/>
          <a:stretch>
            <a:fillRect/>
          </a:stretch>
        </p:blipFill>
        <p:spPr>
          <a:xfrm>
            <a:off x="457200" y="1280160"/>
            <a:ext cx="11247120" cy="3578629"/>
          </a:xfrm>
          <a:prstGeom prst="rect">
            <a:avLst/>
          </a:prstGeom>
        </p:spPr>
      </p:pic>
      <p:sp>
        <p:nvSpPr>
          <p:cNvPr id="8" name="Rectangle 7"/>
          <p:cNvSpPr/>
          <p:nvPr/>
        </p:nvSpPr>
        <p:spPr>
          <a:xfrm>
            <a:off x="0" y="0"/>
            <a:ext cx="12192000" cy="82296"/>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82296"/>
            <a:ext cx="1463040" cy="457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eb_logo.png"/>
          <p:cNvPicPr>
            <a:picLocks noChangeAspect="1"/>
          </p:cNvPicPr>
          <p:nvPr/>
        </p:nvPicPr>
        <p:blipFill>
          <a:blip r:embed="rId5"/>
          <a:stretch>
            <a:fillRect/>
          </a:stretch>
        </p:blipFill>
        <p:spPr>
          <a:xfrm>
            <a:off x="10363200" y="6362864"/>
            <a:ext cx="1005840" cy="3319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To-Be process</a:t>
            </a:r>
            <a:endParaRPr lang="en-US" sz="2600" dirty="0"/>
          </a:p>
        </p:txBody>
      </p:sp>
      <p:sp>
        <p:nvSpPr>
          <p:cNvPr id="3" name="Text 1"/>
          <p:cNvSpPr txBox="1"/>
          <p:nvPr/>
        </p:nvSpPr>
        <p:spPr>
          <a:xfrm>
            <a:off x="457200" y="868680"/>
            <a:ext cx="11247120" cy="3200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Full-resolution SVG is in the Diagrams folder</a:t>
            </a:r>
            <a:endParaRPr lang="en-US" sz="1300" dirty="0"/>
          </a:p>
        </p:txBody>
      </p:sp>
      <p:sp>
        <p:nvSpPr>
          <p:cNvPr id="5" name="Text 2"/>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The Ecommerce Boss  |  Olalekan Ajimoti, Business Analyst portfolio</a:t>
            </a:r>
            <a:endParaRPr lang="en-US" sz="900" dirty="0"/>
          </a:p>
        </p:txBody>
      </p:sp>
      <p:sp>
        <p:nvSpPr>
          <p:cNvPr id="6" name="Text 3"/>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04</a:t>
            </a:r>
            <a:endParaRPr lang="en-US" sz="900" dirty="0"/>
          </a:p>
        </p:txBody>
      </p:sp>
      <p:pic>
        <p:nvPicPr>
          <p:cNvPr id="7" name="Picture 6" descr="To_Be_Process.png"/>
          <p:cNvPicPr>
            <a:picLocks noChangeAspect="1"/>
          </p:cNvPicPr>
          <p:nvPr/>
        </p:nvPicPr>
        <p:blipFill>
          <a:blip r:embed="rId4"/>
          <a:stretch>
            <a:fillRect/>
          </a:stretch>
        </p:blipFill>
        <p:spPr>
          <a:xfrm>
            <a:off x="457200" y="1280160"/>
            <a:ext cx="11247120" cy="3578629"/>
          </a:xfrm>
          <a:prstGeom prst="rect">
            <a:avLst/>
          </a:prstGeom>
        </p:spPr>
      </p:pic>
      <p:sp>
        <p:nvSpPr>
          <p:cNvPr id="8" name="Rectangle 7"/>
          <p:cNvSpPr/>
          <p:nvPr/>
        </p:nvSpPr>
        <p:spPr>
          <a:xfrm>
            <a:off x="0" y="0"/>
            <a:ext cx="12192000" cy="82296"/>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82296"/>
            <a:ext cx="1463040" cy="457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eb_logo.png"/>
          <p:cNvPicPr>
            <a:picLocks noChangeAspect="1"/>
          </p:cNvPicPr>
          <p:nvPr/>
        </p:nvPicPr>
        <p:blipFill>
          <a:blip r:embed="rId5"/>
          <a:stretch>
            <a:fillRect/>
          </a:stretch>
        </p:blipFill>
        <p:spPr>
          <a:xfrm>
            <a:off x="10363200" y="6362864"/>
            <a:ext cx="1005840" cy="3319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What changed</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377440"/>
                <a:gridCol w="3931920"/>
                <a:gridCol w="4937760"/>
              </a:tblGrid>
              <a:tr h="868680">
                <a:tc>
                  <a:txBody>
                    <a:bodyPr/>
                    <a:lstStyle/>
                    <a:p>
                      <a:pPr indent="0" marL="0">
                        <a:buNone/>
                      </a:pPr>
                      <a:r>
                        <a:rPr lang="en-US" sz="1500" b="1" dirty="0">
                          <a:solidFill>
                            <a:srgbClr val="FFFFFF"/>
                          </a:solidFill>
                          <a:latin typeface="Arial" pitchFamily="34" charset="0"/>
                          <a:ea typeface="Arial" pitchFamily="34" charset="-122"/>
                          <a:cs typeface="Arial" pitchFamily="34" charset="-120"/>
                        </a:rPr>
                        <a:t>Area</a:t>
                      </a:r>
                      <a:endParaRPr lang="en-US" sz="1500" dirty="0">
                        <a:latin typeface="Arial" charset="0"/>
                        <a:ea typeface="Arial" charset="0"/>
                        <a:cs typeface="Arial" charset="0"/>
                      </a:endParaRPr>
                    </a:p>
                  </a:txBody>
                  <a:tcPr marL="109728" marR="109728" marT="109728" marB="10972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11111"/>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Before</a:t>
                      </a:r>
                      <a:endParaRPr lang="en-US" sz="1500" dirty="0">
                        <a:latin typeface="Arial" charset="0"/>
                        <a:ea typeface="Arial" charset="0"/>
                        <a:cs typeface="Arial" charset="0"/>
                      </a:endParaRPr>
                    </a:p>
                  </a:txBody>
                  <a:tcPr marL="109728" marR="109728" marT="109728" marB="10972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11111"/>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After</a:t>
                      </a:r>
                      <a:endParaRPr lang="en-US" sz="1500" dirty="0">
                        <a:latin typeface="Arial" charset="0"/>
                        <a:ea typeface="Arial" charset="0"/>
                        <a:cs typeface="Arial" charset="0"/>
                      </a:endParaRPr>
                    </a:p>
                  </a:txBody>
                  <a:tcPr marL="109728" marR="109728" marT="109728" marB="10972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11111"/>
                    </a:solidFill>
                  </a:tcPr>
                </a:tc>
              </a:tr>
              <a:tr h="868680">
                <a:tc>
                  <a:txBody>
                    <a:bodyPr/>
                    <a:lstStyle/>
                    <a:p>
                      <a:pPr indent="0" marL="0">
                        <a:buNone/>
                      </a:pPr>
                      <a:r>
                        <a:rPr lang="en-US" sz="1500" b="1" dirty="0">
                          <a:solidFill>
                            <a:srgbClr val="111111"/>
                          </a:solidFill>
                          <a:latin typeface="Arial" pitchFamily="34" charset="0"/>
                          <a:ea typeface="Arial" pitchFamily="34" charset="-122"/>
                          <a:cs typeface="Arial" pitchFamily="34" charset="-120"/>
                        </a:rPr>
                        <a:t>Starting point</a:t>
                      </a:r>
                      <a:endParaRPr lang="en-US" sz="1500" dirty="0">
                        <a:latin typeface="Arial" charset="0"/>
                        <a:ea typeface="Arial" charset="0"/>
                        <a:cs typeface="Arial" charset="0"/>
                      </a:endParaRPr>
                    </a:p>
                  </a:txBody>
                  <a:tcPr marL="109728" marR="109728" marT="109728" marB="10972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indent="0" marL="0">
                        <a:buNone/>
                      </a:pPr>
                      <a:r>
                        <a:rPr lang="en-US" sz="1500" dirty="0">
                          <a:solidFill>
                            <a:srgbClr val="1E293B"/>
                          </a:solidFill>
                          <a:latin typeface="Arial" pitchFamily="34" charset="0"/>
                          <a:ea typeface="Arial" pitchFamily="34" charset="-122"/>
                          <a:cs typeface="Arial" pitchFamily="34" charset="-120"/>
                        </a:rPr>
                        <a:t>A request for a website or more sales</a:t>
                      </a:r>
                      <a:endParaRPr lang="en-US" sz="1500" dirty="0">
                        <a:latin typeface="Arial" charset="0"/>
                        <a:ea typeface="Arial" charset="0"/>
                        <a:cs typeface="Arial" charset="0"/>
                      </a:endParaRPr>
                    </a:p>
                  </a:txBody>
                  <a:tcPr marL="109728" marR="109728" marT="109728" marB="10972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indent="0" marL="0">
                        <a:buNone/>
                      </a:pPr>
                      <a:r>
                        <a:rPr lang="en-US" sz="1500" dirty="0">
                          <a:solidFill>
                            <a:srgbClr val="1E293B"/>
                          </a:solidFill>
                          <a:latin typeface="Arial" pitchFamily="34" charset="0"/>
                          <a:ea typeface="Arial" pitchFamily="34" charset="-122"/>
                          <a:cs typeface="Arial" pitchFamily="34" charset="-120"/>
                        </a:rPr>
                        <a:t>An agreed goal, success measure and prioritised scope</a:t>
                      </a:r>
                      <a:endParaRPr lang="en-US" sz="1500" dirty="0">
                        <a:latin typeface="Arial" charset="0"/>
                        <a:ea typeface="Arial" charset="0"/>
                        <a:cs typeface="Arial" charset="0"/>
                      </a:endParaRPr>
                    </a:p>
                  </a:txBody>
                  <a:tcPr marL="109728" marR="109728" marT="109728" marB="10972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868680">
                <a:tc>
                  <a:txBody>
                    <a:bodyPr/>
                    <a:lstStyle/>
                    <a:p>
                      <a:pPr indent="0" marL="0">
                        <a:buNone/>
                      </a:pPr>
                      <a:r>
                        <a:rPr lang="en-US" sz="1500" b="1" dirty="0">
                          <a:solidFill>
                            <a:srgbClr val="111111"/>
                          </a:solidFill>
                          <a:latin typeface="Arial" pitchFamily="34" charset="0"/>
                          <a:ea typeface="Arial" pitchFamily="34" charset="-122"/>
                          <a:cs typeface="Arial" pitchFamily="34" charset="-120"/>
                        </a:rPr>
                        <a:t>Enquiries</a:t>
                      </a:r>
                      <a:endParaRPr lang="en-US" sz="1500" dirty="0">
                        <a:latin typeface="Arial" charset="0"/>
                        <a:ea typeface="Arial" charset="0"/>
                        <a:cs typeface="Arial" charset="0"/>
                      </a:endParaRPr>
                    </a:p>
                  </a:txBody>
                  <a:tcPr marL="109728" marR="109728" marT="109728" marB="10972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500" dirty="0">
                          <a:solidFill>
                            <a:srgbClr val="1E293B"/>
                          </a:solidFill>
                          <a:latin typeface="Arial" pitchFamily="34" charset="0"/>
                          <a:ea typeface="Arial" pitchFamily="34" charset="-122"/>
                          <a:cs typeface="Arial" pitchFamily="34" charset="-120"/>
                        </a:rPr>
                        <a:t>Scattered across DMs, forms and spreadsheets</a:t>
                      </a:r>
                      <a:endParaRPr lang="en-US" sz="1500" dirty="0">
                        <a:latin typeface="Arial" charset="0"/>
                        <a:ea typeface="Arial" charset="0"/>
                        <a:cs typeface="Arial" charset="0"/>
                      </a:endParaRPr>
                    </a:p>
                  </a:txBody>
                  <a:tcPr marL="109728" marR="109728" marT="109728" marB="10972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500" dirty="0">
                          <a:solidFill>
                            <a:srgbClr val="1E293B"/>
                          </a:solidFill>
                          <a:latin typeface="Arial" pitchFamily="34" charset="0"/>
                          <a:ea typeface="Arial" pitchFamily="34" charset="-122"/>
                          <a:cs typeface="Arial" pitchFamily="34" charset="-120"/>
                        </a:rPr>
                        <a:t>One record per enquiry with source, status and owner</a:t>
                      </a:r>
                      <a:endParaRPr lang="en-US" sz="1500" dirty="0">
                        <a:latin typeface="Arial" charset="0"/>
                        <a:ea typeface="Arial" charset="0"/>
                        <a:cs typeface="Arial" charset="0"/>
                      </a:endParaRPr>
                    </a:p>
                  </a:txBody>
                  <a:tcPr marL="109728" marR="109728" marT="109728" marB="10972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868680">
                <a:tc>
                  <a:txBody>
                    <a:bodyPr/>
                    <a:lstStyle/>
                    <a:p>
                      <a:pPr indent="0" marL="0">
                        <a:buNone/>
                      </a:pPr>
                      <a:r>
                        <a:rPr lang="en-US" sz="1500" b="1" dirty="0">
                          <a:solidFill>
                            <a:srgbClr val="111111"/>
                          </a:solidFill>
                          <a:latin typeface="Arial" pitchFamily="34" charset="0"/>
                          <a:ea typeface="Arial" pitchFamily="34" charset="-122"/>
                          <a:cs typeface="Arial" pitchFamily="34" charset="-120"/>
                        </a:rPr>
                        <a:t>Follow-up</a:t>
                      </a:r>
                      <a:endParaRPr lang="en-US" sz="1500" dirty="0">
                        <a:latin typeface="Arial" charset="0"/>
                        <a:ea typeface="Arial" charset="0"/>
                        <a:cs typeface="Arial" charset="0"/>
                      </a:endParaRPr>
                    </a:p>
                  </a:txBody>
                  <a:tcPr marL="109728" marR="109728" marT="109728" marB="10972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indent="0" marL="0">
                        <a:buNone/>
                      </a:pPr>
                      <a:r>
                        <a:rPr lang="en-US" sz="1500" dirty="0">
                          <a:solidFill>
                            <a:srgbClr val="1E293B"/>
                          </a:solidFill>
                          <a:latin typeface="Arial" pitchFamily="34" charset="0"/>
                          <a:ea typeface="Arial" pitchFamily="34" charset="-122"/>
                          <a:cs typeface="Arial" pitchFamily="34" charset="-120"/>
                        </a:rPr>
                        <a:t>Manual, and often missed</a:t>
                      </a:r>
                      <a:endParaRPr lang="en-US" sz="1500" dirty="0">
                        <a:latin typeface="Arial" charset="0"/>
                        <a:ea typeface="Arial" charset="0"/>
                        <a:cs typeface="Arial" charset="0"/>
                      </a:endParaRPr>
                    </a:p>
                  </a:txBody>
                  <a:tcPr marL="109728" marR="109728" marT="109728" marB="10972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indent="0" marL="0">
                        <a:buNone/>
                      </a:pPr>
                      <a:r>
                        <a:rPr lang="en-US" sz="1500" dirty="0">
                          <a:solidFill>
                            <a:srgbClr val="1E293B"/>
                          </a:solidFill>
                          <a:latin typeface="Arial" pitchFamily="34" charset="0"/>
                          <a:ea typeface="Arial" pitchFamily="34" charset="-122"/>
                          <a:cs typeface="Arial" pitchFamily="34" charset="-120"/>
                        </a:rPr>
                        <a:t>Automated confirmations and reminders</a:t>
                      </a:r>
                      <a:endParaRPr lang="en-US" sz="1500" dirty="0">
                        <a:latin typeface="Arial" charset="0"/>
                        <a:ea typeface="Arial" charset="0"/>
                        <a:cs typeface="Arial" charset="0"/>
                      </a:endParaRPr>
                    </a:p>
                  </a:txBody>
                  <a:tcPr marL="109728" marR="109728" marT="109728" marB="10972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868680">
                <a:tc>
                  <a:txBody>
                    <a:bodyPr/>
                    <a:lstStyle/>
                    <a:p>
                      <a:pPr indent="0" marL="0">
                        <a:buNone/>
                      </a:pPr>
                      <a:r>
                        <a:rPr lang="en-US" sz="1500" b="1" dirty="0">
                          <a:solidFill>
                            <a:srgbClr val="111111"/>
                          </a:solidFill>
                          <a:latin typeface="Arial" pitchFamily="34" charset="0"/>
                          <a:ea typeface="Arial" pitchFamily="34" charset="-122"/>
                          <a:cs typeface="Arial" pitchFamily="34" charset="-120"/>
                        </a:rPr>
                        <a:t>Decisions</a:t>
                      </a:r>
                      <a:endParaRPr lang="en-US" sz="1500" dirty="0">
                        <a:latin typeface="Arial" charset="0"/>
                        <a:ea typeface="Arial" charset="0"/>
                        <a:cs typeface="Arial" charset="0"/>
                      </a:endParaRPr>
                    </a:p>
                  </a:txBody>
                  <a:tcPr marL="109728" marR="109728" marT="109728" marB="10972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500" dirty="0">
                          <a:solidFill>
                            <a:srgbClr val="1E293B"/>
                          </a:solidFill>
                          <a:latin typeface="Arial" pitchFamily="34" charset="0"/>
                          <a:ea typeface="Arial" pitchFamily="34" charset="-122"/>
                          <a:cs typeface="Arial" pitchFamily="34" charset="-120"/>
                        </a:rPr>
                        <a:t>Budget spent on guesswork</a:t>
                      </a:r>
                      <a:endParaRPr lang="en-US" sz="1500" dirty="0">
                        <a:latin typeface="Arial" charset="0"/>
                        <a:ea typeface="Arial" charset="0"/>
                        <a:cs typeface="Arial" charset="0"/>
                      </a:endParaRPr>
                    </a:p>
                  </a:txBody>
                  <a:tcPr marL="109728" marR="109728" marT="109728" marB="10972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500" dirty="0">
                          <a:solidFill>
                            <a:srgbClr val="1E293B"/>
                          </a:solidFill>
                          <a:latin typeface="Arial" pitchFamily="34" charset="0"/>
                          <a:ea typeface="Arial" pitchFamily="34" charset="-122"/>
                          <a:cs typeface="Arial" pitchFamily="34" charset="-120"/>
                        </a:rPr>
                        <a:t>Performance by channel, tracked with consent</a:t>
                      </a:r>
                      <a:endParaRPr lang="en-US" sz="1500" dirty="0">
                        <a:latin typeface="Arial" charset="0"/>
                        <a:ea typeface="Arial" charset="0"/>
                        <a:cs typeface="Arial" charset="0"/>
                      </a:endParaRPr>
                    </a:p>
                  </a:txBody>
                  <a:tcPr marL="109728" marR="109728" marT="109728" marB="10972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The Ecommerce Boss  |  Olalekan Ajimoti, Business Analyst portfolio</a:t>
            </a:r>
            <a:endParaRPr lang="en-US" sz="900" dirty="0"/>
          </a:p>
        </p:txBody>
      </p:sp>
      <p:sp>
        <p:nvSpPr>
          <p:cNvPr id="5" name="Text 2"/>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05</a:t>
            </a:r>
            <a:endParaRPr lang="en-US" sz="900" dirty="0"/>
          </a:p>
        </p:txBody>
      </p:sp>
      <p:sp>
        <p:nvSpPr>
          <p:cNvPr id="7" name="Rectangle 6"/>
          <p:cNvSpPr/>
          <p:nvPr/>
        </p:nvSpPr>
        <p:spPr>
          <a:xfrm>
            <a:off x="0" y="0"/>
            <a:ext cx="12192000" cy="82296"/>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82296"/>
            <a:ext cx="1463040" cy="457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eb_logo.png"/>
          <p:cNvPicPr>
            <a:picLocks noChangeAspect="1"/>
          </p:cNvPicPr>
          <p:nvPr/>
        </p:nvPicPr>
        <p:blipFill>
          <a:blip r:embed="rId3"/>
          <a:stretch>
            <a:fillRect/>
          </a:stretch>
        </p:blipFill>
        <p:spPr>
          <a:xfrm>
            <a:off x="10363200" y="6362864"/>
            <a:ext cx="1005840" cy="33190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Delivered outcomes</a:t>
            </a:r>
            <a:endParaRPr lang="en-US" sz="2600" dirty="0"/>
          </a:p>
        </p:txBody>
      </p:sp>
      <p:sp>
        <p:nvSpPr>
          <p:cNvPr id="3" name="Text 1"/>
          <p:cNvSpPr txBox="1"/>
          <p:nvPr/>
        </p:nvSpPr>
        <p:spPr>
          <a:xfrm>
            <a:off x="457200" y="868680"/>
            <a:ext cx="11247120" cy="3200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Client results belong to each business and are not published</a:t>
            </a:r>
            <a:endParaRPr lang="en-US" sz="1300" dirty="0"/>
          </a:p>
        </p:txBody>
      </p:sp>
      <p:sp>
        <p:nvSpPr>
          <p:cNvPr id="4" name="Shape 2"/>
          <p:cNvSpPr/>
          <p:nvPr/>
        </p:nvSpPr>
        <p:spPr>
          <a:xfrm>
            <a:off x="457200" y="1737360"/>
            <a:ext cx="5486400" cy="3108960"/>
          </a:xfrm>
          <a:prstGeom prst="rect">
            <a:avLst/>
          </a:prstGeom>
          <a:solidFill>
            <a:srgbClr val="F5F5F5"/>
          </a:solidFill>
          <a:ln w="12700">
            <a:solidFill>
              <a:srgbClr val="F5F5F5"/>
            </a:solidFill>
            <a:prstDash val="solid"/>
          </a:ln>
        </p:spPr>
        <p:txBody>
          <a:bodyPr/>
          <a:p/>
        </p:txBody>
      </p:sp>
      <p:sp>
        <p:nvSpPr>
          <p:cNvPr id="5" name="Text 3"/>
          <p:cNvSpPr txBox="1"/>
          <p:nvPr/>
        </p:nvSpPr>
        <p:spPr>
          <a:xfrm>
            <a:off x="822960" y="2011680"/>
            <a:ext cx="4754880" cy="1463040"/>
          </a:xfrm>
          <a:prstGeom prst="rect">
            <a:avLst/>
          </a:prstGeom>
          <a:noFill/>
          <a:ln/>
        </p:spPr>
        <p:txBody>
          <a:bodyPr wrap="square" lIns="0" tIns="0" rIns="0" bIns="0" rtlCol="0" anchor="ctr"/>
          <a:lstStyle/>
          <a:p>
            <a:pPr indent="0" marL="0">
              <a:buNone/>
            </a:pPr>
            <a:r>
              <a:rPr lang="en-US" sz="7200" b="1" dirty="0">
                <a:solidFill>
                  <a:srgbClr val="111111"/>
                </a:solidFill>
                <a:latin typeface="Arial" pitchFamily="34" charset="0"/>
                <a:ea typeface="Arial" pitchFamily="34" charset="-122"/>
                <a:cs typeface="Arial" pitchFamily="34" charset="-120"/>
              </a:rPr>
              <a:t>5 steps</a:t>
            </a:r>
            <a:endParaRPr lang="en-US" sz="7200" dirty="0"/>
          </a:p>
        </p:txBody>
      </p:sp>
      <p:sp>
        <p:nvSpPr>
          <p:cNvPr id="6" name="Text 4"/>
          <p:cNvSpPr txBox="1"/>
          <p:nvPr/>
        </p:nvSpPr>
        <p:spPr>
          <a:xfrm>
            <a:off x="822960" y="3566160"/>
            <a:ext cx="4754880" cy="914400"/>
          </a:xfrm>
          <a:prstGeom prst="rect">
            <a:avLst/>
          </a:prstGeom>
          <a:noFill/>
          <a:ln/>
        </p:spPr>
        <p:txBody>
          <a:bodyPr wrap="square" lIns="0" tIns="0" rIns="0" bIns="0" rtlCol="0" anchor="t"/>
          <a:lstStyle/>
          <a:p>
            <a:pPr indent="0" marL="0">
              <a:buNone/>
            </a:pPr>
            <a:r>
              <a:rPr lang="en-US" sz="1800" dirty="0">
                <a:solidFill>
                  <a:srgbClr val="1E293B"/>
                </a:solidFill>
                <a:latin typeface="Arial" pitchFamily="34" charset="0"/>
                <a:ea typeface="Arial" pitchFamily="34" charset="-122"/>
                <a:cs typeface="Arial" pitchFamily="34" charset="-120"/>
              </a:rPr>
              <a:t>repeatable engagement model: discover, define, build, test, hand over</a:t>
            </a:r>
            <a:endParaRPr lang="en-US" sz="1800" dirty="0"/>
          </a:p>
        </p:txBody>
      </p:sp>
      <p:sp>
        <p:nvSpPr>
          <p:cNvPr id="7" name="Shape 5"/>
          <p:cNvSpPr/>
          <p:nvPr/>
        </p:nvSpPr>
        <p:spPr>
          <a:xfrm>
            <a:off x="6172200" y="1737360"/>
            <a:ext cx="5486400" cy="3108960"/>
          </a:xfrm>
          <a:prstGeom prst="rect">
            <a:avLst/>
          </a:prstGeom>
          <a:solidFill>
            <a:srgbClr val="F5F5F5"/>
          </a:solidFill>
          <a:ln w="12700">
            <a:solidFill>
              <a:srgbClr val="F5F5F5"/>
            </a:solidFill>
            <a:prstDash val="solid"/>
          </a:ln>
        </p:spPr>
        <p:txBody>
          <a:bodyPr/>
          <a:p/>
        </p:txBody>
      </p:sp>
      <p:sp>
        <p:nvSpPr>
          <p:cNvPr id="8" name="Text 6"/>
          <p:cNvSpPr txBox="1"/>
          <p:nvPr/>
        </p:nvSpPr>
        <p:spPr>
          <a:xfrm>
            <a:off x="6537960" y="2011680"/>
            <a:ext cx="4754880" cy="1463040"/>
          </a:xfrm>
          <a:prstGeom prst="rect">
            <a:avLst/>
          </a:prstGeom>
          <a:noFill/>
          <a:ln/>
        </p:spPr>
        <p:txBody>
          <a:bodyPr wrap="square" lIns="0" tIns="0" rIns="0" bIns="0" rtlCol="0" anchor="ctr"/>
          <a:lstStyle/>
          <a:p>
            <a:pPr indent="0" marL="0">
              <a:buNone/>
            </a:pPr>
            <a:r>
              <a:rPr lang="en-US" sz="7200" b="1" dirty="0">
                <a:solidFill>
                  <a:srgbClr val="111111"/>
                </a:solidFill>
                <a:latin typeface="Arial" pitchFamily="34" charset="0"/>
                <a:ea typeface="Arial" pitchFamily="34" charset="-122"/>
                <a:cs typeface="Arial" pitchFamily="34" charset="-120"/>
              </a:rPr>
              <a:t>1 record</a:t>
            </a:r>
            <a:endParaRPr lang="en-US" sz="7200" dirty="0"/>
          </a:p>
        </p:txBody>
      </p:sp>
      <p:sp>
        <p:nvSpPr>
          <p:cNvPr id="9" name="Text 7"/>
          <p:cNvSpPr txBox="1"/>
          <p:nvPr/>
        </p:nvSpPr>
        <p:spPr>
          <a:xfrm>
            <a:off x="6537960" y="3566160"/>
            <a:ext cx="4754880" cy="914400"/>
          </a:xfrm>
          <a:prstGeom prst="rect">
            <a:avLst/>
          </a:prstGeom>
          <a:noFill/>
          <a:ln/>
        </p:spPr>
        <p:txBody>
          <a:bodyPr wrap="square" lIns="0" tIns="0" rIns="0" bIns="0" rtlCol="0" anchor="t"/>
          <a:lstStyle/>
          <a:p>
            <a:pPr indent="0" marL="0">
              <a:buNone/>
            </a:pPr>
            <a:r>
              <a:rPr lang="en-US" sz="1800" dirty="0">
                <a:solidFill>
                  <a:srgbClr val="1E293B"/>
                </a:solidFill>
                <a:latin typeface="Arial" pitchFamily="34" charset="0"/>
                <a:ea typeface="Arial" pitchFamily="34" charset="-122"/>
                <a:cs typeface="Arial" pitchFamily="34" charset="-120"/>
              </a:rPr>
              <a:t>per client for every enquiry, replacing DMs and spreadsheets</a:t>
            </a:r>
            <a:endParaRPr lang="en-US" sz="1800" dirty="0"/>
          </a:p>
        </p:txBody>
      </p:sp>
      <p:sp>
        <p:nvSpPr>
          <p:cNvPr id="10" name="Text 8"/>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The Ecommerce Boss  |  Olalekan Ajimoti, Business Analyst portfolio</a:t>
            </a:r>
            <a:endParaRPr lang="en-US" sz="900" dirty="0"/>
          </a:p>
        </p:txBody>
      </p:sp>
      <p:sp>
        <p:nvSpPr>
          <p:cNvPr id="11" name="Text 9"/>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06</a:t>
            </a:r>
            <a:endParaRPr lang="en-US" sz="900" dirty="0"/>
          </a:p>
        </p:txBody>
      </p:sp>
      <p:sp>
        <p:nvSpPr>
          <p:cNvPr id="12" name="Rectangle 11"/>
          <p:cNvSpPr/>
          <p:nvPr/>
        </p:nvSpPr>
        <p:spPr>
          <a:xfrm>
            <a:off x="0" y="0"/>
            <a:ext cx="12192000" cy="82296"/>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82296"/>
            <a:ext cx="1463040" cy="457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teb_logo.png"/>
          <p:cNvPicPr>
            <a:picLocks noChangeAspect="1"/>
          </p:cNvPicPr>
          <p:nvPr/>
        </p:nvPicPr>
        <p:blipFill>
          <a:blip r:embed="rId3"/>
          <a:stretch>
            <a:fillRect/>
          </a:stretch>
        </p:blipFill>
        <p:spPr>
          <a:xfrm>
            <a:off x="10363200" y="6362864"/>
            <a:ext cx="1005840" cy="33190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Recommendations and key risks</a:t>
            </a:r>
            <a:endParaRPr lang="en-US" sz="2600" dirty="0"/>
          </a:p>
        </p:txBody>
      </p:sp>
      <p:sp>
        <p:nvSpPr>
          <p:cNvPr id="3" name="Text 1"/>
          <p:cNvSpPr txBox="1"/>
          <p:nvPr/>
        </p:nvSpPr>
        <p:spPr>
          <a:xfrm>
            <a:off x="457200" y="1280160"/>
            <a:ext cx="5486400" cy="36576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Recommended next actions</a:t>
            </a:r>
            <a:endParaRPr lang="en-US" sz="1500" dirty="0"/>
          </a:p>
        </p:txBody>
      </p:sp>
      <p:sp>
        <p:nvSpPr>
          <p:cNvPr id="4" name="Text 2"/>
          <p:cNvSpPr txBox="1"/>
          <p:nvPr/>
        </p:nvSpPr>
        <p:spPr>
          <a:xfrm>
            <a:off x="457200" y="1783080"/>
            <a:ext cx="5394960" cy="4206240"/>
          </a:xfrm>
          <a:prstGeom prst="rect">
            <a:avLst/>
          </a:prstGeom>
          <a:noFill/>
          <a:ln/>
        </p:spPr>
        <p:txBody>
          <a:bodyPr wrap="square" rtlCol="0" anchor="t"/>
          <a:lstStyle/>
          <a:p>
            <a:pPr marL="342900" indent="-342900">
              <a:spcAft>
                <a:spcPts val="1200"/>
              </a:spcAft>
              <a:buSzPct val="100000"/>
              <a:buChar char="•"/>
            </a:pPr>
            <a:r>
              <a:rPr lang="en-US" sz="1600" dirty="0">
                <a:solidFill>
                  <a:srgbClr val="1E293B"/>
                </a:solidFill>
                <a:latin typeface="Arial" pitchFamily="34" charset="0"/>
                <a:ea typeface="Arial" pitchFamily="34" charset="-122"/>
                <a:cs typeface="Arial" pitchFamily="34" charset="-120"/>
              </a:rPr>
              <a:t>Agree one success measure with every owner at the start</a:t>
            </a:r>
            <a:endParaRPr lang="en-US" sz="1600" dirty="0"/>
          </a:p>
          <a:p>
            <a:pPr marL="342900" indent="-342900">
              <a:spcAft>
                <a:spcPts val="1200"/>
              </a:spcAft>
              <a:buSzPct val="100000"/>
              <a:buChar char="•"/>
            </a:pPr>
            <a:r>
              <a:rPr lang="en-US" sz="1600" dirty="0">
                <a:solidFill>
                  <a:srgbClr val="1E293B"/>
                </a:solidFill>
                <a:latin typeface="Arial" pitchFamily="34" charset="0"/>
                <a:ea typeface="Arial" pitchFamily="34" charset="-122"/>
                <a:cs typeface="Arial" pitchFamily="34" charset="-120"/>
              </a:rPr>
              <a:t>Keep a shared change log so scope stays inside budget</a:t>
            </a:r>
            <a:endParaRPr lang="en-US" sz="1600" dirty="0"/>
          </a:p>
          <a:p>
            <a:pPr marL="342900" indent="-342900">
              <a:spcAft>
                <a:spcPts val="1200"/>
              </a:spcAft>
              <a:buSzPct val="100000"/>
              <a:buChar char="•"/>
            </a:pPr>
            <a:r>
              <a:rPr lang="en-US" sz="1600" dirty="0">
                <a:solidFill>
                  <a:srgbClr val="1E293B"/>
                </a:solidFill>
                <a:latin typeface="Arial" pitchFamily="34" charset="0"/>
                <a:ea typeface="Arial" pitchFamily="34" charset="-122"/>
                <a:cs typeface="Arial" pitchFamily="34" charset="-120"/>
              </a:rPr>
              <a:t>Review performance by channel with each client monthly</a:t>
            </a:r>
            <a:endParaRPr lang="en-US" sz="1600" dirty="0"/>
          </a:p>
          <a:p>
            <a:pPr marL="342900" indent="-342900">
              <a:spcAft>
                <a:spcPts val="1200"/>
              </a:spcAft>
              <a:buSzPct val="100000"/>
              <a:buChar char="•"/>
            </a:pPr>
            <a:r>
              <a:rPr lang="en-US" sz="1600" dirty="0">
                <a:solidFill>
                  <a:srgbClr val="1E293B"/>
                </a:solidFill>
                <a:latin typeface="Arial" pitchFamily="34" charset="0"/>
                <a:ea typeface="Arial" pitchFamily="34" charset="-122"/>
                <a:cs typeface="Arial" pitchFamily="34" charset="-120"/>
              </a:rPr>
              <a:t>Turn repeated fixes into reusable templates across clients</a:t>
            </a:r>
            <a:endParaRPr lang="en-US" sz="1600" dirty="0"/>
          </a:p>
        </p:txBody>
      </p:sp>
      <p:sp>
        <p:nvSpPr>
          <p:cNvPr id="5" name="Text 3"/>
          <p:cNvSpPr txBox="1"/>
          <p:nvPr/>
        </p:nvSpPr>
        <p:spPr>
          <a:xfrm>
            <a:off x="6309360" y="1280160"/>
            <a:ext cx="5486400" cy="36576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Risks with a named owner</a:t>
            </a:r>
            <a:endParaRPr lang="en-US" sz="1500" dirty="0"/>
          </a:p>
        </p:txBody>
      </p:sp>
      <p:sp>
        <p:nvSpPr>
          <p:cNvPr id="6" name="Shape 4"/>
          <p:cNvSpPr/>
          <p:nvPr/>
        </p:nvSpPr>
        <p:spPr>
          <a:xfrm>
            <a:off x="6309360" y="1783080"/>
            <a:ext cx="5394960" cy="960120"/>
          </a:xfrm>
          <a:prstGeom prst="rect">
            <a:avLst/>
          </a:prstGeom>
          <a:solidFill>
            <a:srgbClr val="F5F5F5"/>
          </a:solidFill>
          <a:ln w="12700">
            <a:solidFill>
              <a:srgbClr val="F5F5F5"/>
            </a:solidFill>
            <a:prstDash val="solid"/>
          </a:ln>
        </p:spPr>
        <p:txBody>
          <a:bodyPr/>
          <a:p/>
        </p:txBody>
      </p:sp>
      <p:sp>
        <p:nvSpPr>
          <p:cNvPr id="7" name="Text 5"/>
          <p:cNvSpPr txBox="1"/>
          <p:nvPr/>
        </p:nvSpPr>
        <p:spPr>
          <a:xfrm>
            <a:off x="6446520" y="1920240"/>
            <a:ext cx="731520" cy="320040"/>
          </a:xfrm>
          <a:prstGeom prst="rect">
            <a:avLst/>
          </a:prstGeom>
          <a:solidFill>
            <a:srgbClr val="B45309"/>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R-01</a:t>
            </a:r>
            <a:endParaRPr lang="en-US" sz="1100" dirty="0"/>
          </a:p>
        </p:txBody>
      </p:sp>
      <p:sp>
        <p:nvSpPr>
          <p:cNvPr id="8" name="Text 6"/>
          <p:cNvSpPr txBox="1"/>
          <p:nvPr/>
        </p:nvSpPr>
        <p:spPr>
          <a:xfrm>
            <a:off x="7315200" y="1856232"/>
            <a:ext cx="4297680" cy="41148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Scope grows beyond a fixed small-business budget</a:t>
            </a:r>
            <a:endParaRPr lang="en-US" sz="1300" dirty="0"/>
          </a:p>
        </p:txBody>
      </p:sp>
      <p:sp>
        <p:nvSpPr>
          <p:cNvPr id="9" name="Text 7"/>
          <p:cNvSpPr txBox="1"/>
          <p:nvPr/>
        </p:nvSpPr>
        <p:spPr>
          <a:xfrm>
            <a:off x="7315200" y="2267712"/>
            <a:ext cx="4297680" cy="365760"/>
          </a:xfrm>
          <a:prstGeom prst="rect">
            <a:avLst/>
          </a:prstGeom>
          <a:noFill/>
          <a:ln/>
        </p:spPr>
        <p:txBody>
          <a:bodyPr wrap="square" lIns="0" tIns="0" rIns="0" bIns="0" rtlCol="0" anchor="t"/>
          <a:lstStyle/>
          <a:p>
            <a:pPr indent="0" marL="0">
              <a:buNone/>
            </a:pPr>
            <a:r>
              <a:rPr lang="en-US" sz="1200" dirty="0">
                <a:solidFill>
                  <a:srgbClr val="64748B"/>
                </a:solidFill>
                <a:latin typeface="Arial" pitchFamily="34" charset="0"/>
                <a:ea typeface="Arial" pitchFamily="34" charset="-122"/>
                <a:cs typeface="Arial" pitchFamily="34" charset="-120"/>
              </a:rPr>
              <a:t>MoSCoW prioritisation and a change log agreed with the owner</a:t>
            </a:r>
            <a:endParaRPr lang="en-US" sz="1200" dirty="0"/>
          </a:p>
        </p:txBody>
      </p:sp>
      <p:sp>
        <p:nvSpPr>
          <p:cNvPr id="10" name="Shape 8"/>
          <p:cNvSpPr/>
          <p:nvPr/>
        </p:nvSpPr>
        <p:spPr>
          <a:xfrm>
            <a:off x="6309360" y="2862072"/>
            <a:ext cx="5394960" cy="960120"/>
          </a:xfrm>
          <a:prstGeom prst="rect">
            <a:avLst/>
          </a:prstGeom>
          <a:solidFill>
            <a:srgbClr val="F5F5F5"/>
          </a:solidFill>
          <a:ln w="12700">
            <a:solidFill>
              <a:srgbClr val="F5F5F5"/>
            </a:solidFill>
            <a:prstDash val="solid"/>
          </a:ln>
        </p:spPr>
        <p:txBody>
          <a:bodyPr/>
          <a:p/>
        </p:txBody>
      </p:sp>
      <p:sp>
        <p:nvSpPr>
          <p:cNvPr id="11" name="Text 9"/>
          <p:cNvSpPr txBox="1"/>
          <p:nvPr/>
        </p:nvSpPr>
        <p:spPr>
          <a:xfrm>
            <a:off x="6446520" y="2999232"/>
            <a:ext cx="731520" cy="320040"/>
          </a:xfrm>
          <a:prstGeom prst="rect">
            <a:avLst/>
          </a:prstGeom>
          <a:solidFill>
            <a:srgbClr val="B91C1C"/>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R-02</a:t>
            </a:r>
            <a:endParaRPr lang="en-US" sz="1100" dirty="0"/>
          </a:p>
        </p:txBody>
      </p:sp>
      <p:sp>
        <p:nvSpPr>
          <p:cNvPr id="12" name="Text 10"/>
          <p:cNvSpPr txBox="1"/>
          <p:nvPr/>
        </p:nvSpPr>
        <p:spPr>
          <a:xfrm>
            <a:off x="7315200" y="2935224"/>
            <a:ext cx="4297680" cy="41148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Owner has little time for discovery and testing</a:t>
            </a:r>
            <a:endParaRPr lang="en-US" sz="1300" dirty="0"/>
          </a:p>
        </p:txBody>
      </p:sp>
      <p:sp>
        <p:nvSpPr>
          <p:cNvPr id="13" name="Text 11"/>
          <p:cNvSpPr txBox="1"/>
          <p:nvPr/>
        </p:nvSpPr>
        <p:spPr>
          <a:xfrm>
            <a:off x="7315200" y="3346704"/>
            <a:ext cx="4297680" cy="365760"/>
          </a:xfrm>
          <a:prstGeom prst="rect">
            <a:avLst/>
          </a:prstGeom>
          <a:noFill/>
          <a:ln/>
        </p:spPr>
        <p:txBody>
          <a:bodyPr wrap="square" lIns="0" tIns="0" rIns="0" bIns="0" rtlCol="0" anchor="t"/>
          <a:lstStyle/>
          <a:p>
            <a:pPr indent="0" marL="0">
              <a:buNone/>
            </a:pPr>
            <a:r>
              <a:rPr lang="en-US" sz="1200" dirty="0">
                <a:solidFill>
                  <a:srgbClr val="64748B"/>
                </a:solidFill>
                <a:latin typeface="Arial" pitchFamily="34" charset="0"/>
                <a:ea typeface="Arial" pitchFamily="34" charset="-122"/>
                <a:cs typeface="Arial" pitchFamily="34" charset="-120"/>
              </a:rPr>
              <a:t>Short, structured sessions and clear decision points</a:t>
            </a:r>
            <a:endParaRPr lang="en-US" sz="1200" dirty="0"/>
          </a:p>
        </p:txBody>
      </p:sp>
      <p:sp>
        <p:nvSpPr>
          <p:cNvPr id="14" name="Shape 12"/>
          <p:cNvSpPr/>
          <p:nvPr/>
        </p:nvSpPr>
        <p:spPr>
          <a:xfrm>
            <a:off x="6309360" y="3941064"/>
            <a:ext cx="5394960" cy="960120"/>
          </a:xfrm>
          <a:prstGeom prst="rect">
            <a:avLst/>
          </a:prstGeom>
          <a:solidFill>
            <a:srgbClr val="F5F5F5"/>
          </a:solidFill>
          <a:ln w="12700">
            <a:solidFill>
              <a:srgbClr val="F5F5F5"/>
            </a:solidFill>
            <a:prstDash val="solid"/>
          </a:ln>
        </p:spPr>
        <p:txBody>
          <a:bodyPr/>
          <a:p/>
        </p:txBody>
      </p:sp>
      <p:sp>
        <p:nvSpPr>
          <p:cNvPr id="15" name="Text 13"/>
          <p:cNvSpPr txBox="1"/>
          <p:nvPr/>
        </p:nvSpPr>
        <p:spPr>
          <a:xfrm>
            <a:off x="6446520" y="4078224"/>
            <a:ext cx="731520" cy="320040"/>
          </a:xfrm>
          <a:prstGeom prst="rect">
            <a:avLst/>
          </a:prstGeom>
          <a:solidFill>
            <a:srgbClr val="B91C1C"/>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R-03</a:t>
            </a:r>
            <a:endParaRPr lang="en-US" sz="1100" dirty="0"/>
          </a:p>
        </p:txBody>
      </p:sp>
      <p:sp>
        <p:nvSpPr>
          <p:cNvPr id="16" name="Text 14"/>
          <p:cNvSpPr txBox="1"/>
          <p:nvPr/>
        </p:nvSpPr>
        <p:spPr>
          <a:xfrm>
            <a:off x="7315200" y="4014216"/>
            <a:ext cx="4297680" cy="41148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Tools are abandoned after handover</a:t>
            </a:r>
            <a:endParaRPr lang="en-US" sz="1300" dirty="0"/>
          </a:p>
        </p:txBody>
      </p:sp>
      <p:sp>
        <p:nvSpPr>
          <p:cNvPr id="17" name="Text 15"/>
          <p:cNvSpPr txBox="1"/>
          <p:nvPr/>
        </p:nvSpPr>
        <p:spPr>
          <a:xfrm>
            <a:off x="7315200" y="4425696"/>
            <a:ext cx="4297680" cy="365760"/>
          </a:xfrm>
          <a:prstGeom prst="rect">
            <a:avLst/>
          </a:prstGeom>
          <a:noFill/>
          <a:ln/>
        </p:spPr>
        <p:txBody>
          <a:bodyPr wrap="square" lIns="0" tIns="0" rIns="0" bIns="0" rtlCol="0" anchor="t"/>
          <a:lstStyle/>
          <a:p>
            <a:pPr indent="0" marL="0">
              <a:buNone/>
            </a:pPr>
            <a:r>
              <a:rPr lang="en-US" sz="1200" dirty="0">
                <a:solidFill>
                  <a:srgbClr val="64748B"/>
                </a:solidFill>
                <a:latin typeface="Arial" pitchFamily="34" charset="0"/>
                <a:ea typeface="Arial" pitchFamily="34" charset="-122"/>
                <a:cs typeface="Arial" pitchFamily="34" charset="-120"/>
              </a:rPr>
              <a:t>Simple tools, training and a written guide</a:t>
            </a:r>
            <a:endParaRPr lang="en-US" sz="1200" dirty="0"/>
          </a:p>
        </p:txBody>
      </p:sp>
      <p:sp>
        <p:nvSpPr>
          <p:cNvPr id="18" name="Shape 16"/>
          <p:cNvSpPr/>
          <p:nvPr/>
        </p:nvSpPr>
        <p:spPr>
          <a:xfrm>
            <a:off x="6309360" y="5020056"/>
            <a:ext cx="5394960" cy="960120"/>
          </a:xfrm>
          <a:prstGeom prst="rect">
            <a:avLst/>
          </a:prstGeom>
          <a:solidFill>
            <a:srgbClr val="F5F5F5"/>
          </a:solidFill>
          <a:ln w="12700">
            <a:solidFill>
              <a:srgbClr val="F5F5F5"/>
            </a:solidFill>
            <a:prstDash val="solid"/>
          </a:ln>
        </p:spPr>
        <p:txBody>
          <a:bodyPr/>
          <a:p/>
        </p:txBody>
      </p:sp>
      <p:sp>
        <p:nvSpPr>
          <p:cNvPr id="19" name="Text 17"/>
          <p:cNvSpPr txBox="1"/>
          <p:nvPr/>
        </p:nvSpPr>
        <p:spPr>
          <a:xfrm>
            <a:off x="6446520" y="5157216"/>
            <a:ext cx="731520" cy="320040"/>
          </a:xfrm>
          <a:prstGeom prst="rect">
            <a:avLst/>
          </a:prstGeom>
          <a:solidFill>
            <a:srgbClr val="B91C1C"/>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R-04</a:t>
            </a:r>
            <a:endParaRPr lang="en-US" sz="1100" dirty="0"/>
          </a:p>
        </p:txBody>
      </p:sp>
      <p:sp>
        <p:nvSpPr>
          <p:cNvPr id="20" name="Text 18"/>
          <p:cNvSpPr txBox="1"/>
          <p:nvPr/>
        </p:nvSpPr>
        <p:spPr>
          <a:xfrm>
            <a:off x="7315200" y="5093208"/>
            <a:ext cx="4297680" cy="41148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Poor data quality in legacy spreadsheets</a:t>
            </a:r>
            <a:endParaRPr lang="en-US" sz="1300" dirty="0"/>
          </a:p>
        </p:txBody>
      </p:sp>
      <p:sp>
        <p:nvSpPr>
          <p:cNvPr id="21" name="Text 19"/>
          <p:cNvSpPr txBox="1"/>
          <p:nvPr/>
        </p:nvSpPr>
        <p:spPr>
          <a:xfrm>
            <a:off x="7315200" y="5504688"/>
            <a:ext cx="4297680" cy="365760"/>
          </a:xfrm>
          <a:prstGeom prst="rect">
            <a:avLst/>
          </a:prstGeom>
          <a:noFill/>
          <a:ln/>
        </p:spPr>
        <p:txBody>
          <a:bodyPr wrap="square" lIns="0" tIns="0" rIns="0" bIns="0" rtlCol="0" anchor="t"/>
          <a:lstStyle/>
          <a:p>
            <a:pPr indent="0" marL="0">
              <a:buNone/>
            </a:pPr>
            <a:r>
              <a:rPr lang="en-US" sz="1200" dirty="0">
                <a:solidFill>
                  <a:srgbClr val="64748B"/>
                </a:solidFill>
                <a:latin typeface="Arial" pitchFamily="34" charset="0"/>
                <a:ea typeface="Arial" pitchFamily="34" charset="-122"/>
                <a:cs typeface="Arial" pitchFamily="34" charset="-120"/>
              </a:rPr>
              <a:t>Validation at intake and a one-off clean-up</a:t>
            </a:r>
            <a:endParaRPr lang="en-US" sz="1200" dirty="0"/>
          </a:p>
        </p:txBody>
      </p:sp>
      <p:sp>
        <p:nvSpPr>
          <p:cNvPr id="22" name="Text 20"/>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The Ecommerce Boss  |  Olalekan Ajimoti, Business Analyst portfolio</a:t>
            </a:r>
            <a:endParaRPr lang="en-US" sz="900" dirty="0"/>
          </a:p>
        </p:txBody>
      </p:sp>
      <p:sp>
        <p:nvSpPr>
          <p:cNvPr id="23" name="Text 21"/>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07</a:t>
            </a:r>
            <a:endParaRPr lang="en-US" sz="900" dirty="0"/>
          </a:p>
        </p:txBody>
      </p:sp>
      <p:sp>
        <p:nvSpPr>
          <p:cNvPr id="24" name="Rectangle 23"/>
          <p:cNvSpPr/>
          <p:nvPr/>
        </p:nvSpPr>
        <p:spPr>
          <a:xfrm>
            <a:off x="0" y="0"/>
            <a:ext cx="12192000" cy="82296"/>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82296"/>
            <a:ext cx="1463040" cy="457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teb_logo.png"/>
          <p:cNvPicPr>
            <a:picLocks noChangeAspect="1"/>
          </p:cNvPicPr>
          <p:nvPr/>
        </p:nvPicPr>
        <p:blipFill>
          <a:blip r:embed="rId3"/>
          <a:stretch>
            <a:fillRect/>
          </a:stretch>
        </p:blipFill>
        <p:spPr>
          <a:xfrm>
            <a:off x="10363200" y="6362864"/>
            <a:ext cx="1005840" cy="33190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BOZ Jewelry Retail and E-commerce Transformation</dc:title>
  <dc:subject>PptxGenJS Presentation</dc:subject>
  <dc:creator>Olalekan Ajimoti</dc:creator>
  <cp:lastModifiedBy>Olalekan Ajimoti</cp:lastModifiedBy>
  <cp:revision>1</cp:revision>
  <dcterms:created xsi:type="dcterms:W3CDTF">2026-09-25T02:00:11Z</dcterms:created>
  <dcterms:modified xsi:type="dcterms:W3CDTF">2026-09-25T02:00:11Z</dcterms:modified>
</cp:coreProperties>
</file>